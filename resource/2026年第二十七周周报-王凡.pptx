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handoutMasterIdLst>
    <p:handoutMasterId r:id="rId23"/>
  </p:handoutMasterIdLst>
  <p:sldIdLst>
    <p:sldId id="257" r:id="rId4"/>
    <p:sldId id="256" r:id="rId5"/>
    <p:sldId id="11090143" r:id="rId7"/>
    <p:sldId id="11090164" r:id="rId8"/>
    <p:sldId id="11090601" r:id="rId9"/>
    <p:sldId id="11090564" r:id="rId10"/>
    <p:sldId id="11090589" r:id="rId11"/>
    <p:sldId id="11090580" r:id="rId12"/>
    <p:sldId id="11090584" r:id="rId13"/>
    <p:sldId id="11090600" r:id="rId14"/>
    <p:sldId id="11090594" r:id="rId15"/>
    <p:sldId id="11090606" r:id="rId16"/>
    <p:sldId id="11090611" r:id="rId17"/>
    <p:sldId id="11090612" r:id="rId18"/>
    <p:sldId id="11090613" r:id="rId19"/>
    <p:sldId id="11090598" r:id="rId20"/>
    <p:sldId id="11090614" r:id="rId21"/>
    <p:sldId id="260" r:id="rId22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9" userDrawn="1">
          <p15:clr>
            <a:srgbClr val="A4A3A4"/>
          </p15:clr>
        </p15:guide>
        <p15:guide id="2" pos="38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NK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4472C4"/>
    <a:srgbClr val="CFD5EA"/>
    <a:srgbClr val="E9EBF5"/>
    <a:srgbClr val="9AFBF1"/>
    <a:srgbClr val="54CCC2"/>
    <a:srgbClr val="50C8BE"/>
    <a:srgbClr val="02A56C"/>
    <a:srgbClr val="2DC0B3"/>
    <a:srgbClr val="67C9A7"/>
    <a:srgbClr val="3BD1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76" y="108"/>
      </p:cViewPr>
      <p:guideLst>
        <p:guide orient="horz" pos="2079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gs" Target="tags/tag23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1F0B2B7E-7051-447A-921B-B109A92F54E8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538ADA2C-F3FF-4D50-9E7E-0D43FE1BCE7F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宋体 CN" panose="02020400000000000000" pitchFamily="18" charset="-122"/>
        <a:ea typeface="思源宋体 CN" panose="02020400000000000000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FE190CB-EF91-4BA8-92F9-EE9EB0693F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FE190CB-EF91-4BA8-92F9-EE9EB0693F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FE190CB-EF91-4BA8-92F9-EE9EB0693F0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61F9-7215-4FED-AEBE-F6BD0BB9523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223D-0845-4D2E-B39F-A1BF384897D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 userDrawn="1"/>
        </p:nvSpPr>
        <p:spPr>
          <a:xfrm>
            <a:off x="-410135" y="255494"/>
            <a:ext cx="820270" cy="82027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-352078" y="197436"/>
            <a:ext cx="820270" cy="820270"/>
          </a:xfrm>
          <a:prstGeom prst="ellipse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670316" y="342786"/>
            <a:ext cx="4463981" cy="529569"/>
          </a:xfrm>
          <a:prstGeom prst="rect">
            <a:avLst/>
          </a:prstGeom>
          <a:ln w="12700" cmpd="sng">
            <a:noFill/>
          </a:ln>
        </p:spPr>
        <p:txBody>
          <a:bodyPr vert="horz" anchor="ctr"/>
          <a:lstStyle>
            <a:lvl1pPr marL="0" indent="0" algn="l">
              <a:buNone/>
              <a:defRPr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/>
            <a:r>
              <a:rPr kumimoji="1" lang="en-US" altLang="zh-CN" dirty="0"/>
              <a:t>CLICK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ADD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TITLE</a:t>
            </a:r>
            <a:endParaRPr kumimoji="1"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6A78-1352-48A0-8493-7530DA9D69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C4B2-7AAE-4B78-97D5-3931AD33BE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6A78-1352-48A0-8493-7530DA9D690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6C4B2-7AAE-4B78-97D5-3931AD33BE1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1180081" y="2803738"/>
            <a:ext cx="2996986" cy="2996986"/>
          </a:xfrm>
          <a:custGeom>
            <a:avLst/>
            <a:gdLst>
              <a:gd name="connsiteX0" fmla="*/ 0 w 2996986"/>
              <a:gd name="connsiteY0" fmla="*/ 0 h 2996986"/>
              <a:gd name="connsiteX1" fmla="*/ 2996986 w 2996986"/>
              <a:gd name="connsiteY1" fmla="*/ 0 h 2996986"/>
              <a:gd name="connsiteX2" fmla="*/ 2996986 w 2996986"/>
              <a:gd name="connsiteY2" fmla="*/ 2996986 h 2996986"/>
              <a:gd name="connsiteX3" fmla="*/ 0 w 2996986"/>
              <a:gd name="connsiteY3" fmla="*/ 2996986 h 2996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96986" h="2996986">
                <a:moveTo>
                  <a:pt x="0" y="0"/>
                </a:moveTo>
                <a:lnTo>
                  <a:pt x="2996986" y="0"/>
                </a:lnTo>
                <a:lnTo>
                  <a:pt x="2996986" y="2996986"/>
                </a:lnTo>
                <a:lnTo>
                  <a:pt x="0" y="299698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 userDrawn="1"/>
        </p:nvSpPr>
        <p:spPr>
          <a:xfrm rot="16200000" flipV="1">
            <a:off x="9931349" y="4597345"/>
            <a:ext cx="2131033" cy="2390273"/>
          </a:xfrm>
          <a:custGeom>
            <a:avLst/>
            <a:gdLst>
              <a:gd name="connsiteX0" fmla="*/ 2247277 w 2247277"/>
              <a:gd name="connsiteY0" fmla="*/ 0 h 2520658"/>
              <a:gd name="connsiteX1" fmla="*/ 0 w 2247277"/>
              <a:gd name="connsiteY1" fmla="*/ 1 h 2520658"/>
              <a:gd name="connsiteX2" fmla="*/ 0 w 2247277"/>
              <a:gd name="connsiteY2" fmla="*/ 2520658 h 2520658"/>
              <a:gd name="connsiteX3" fmla="*/ 59422 w 2247277"/>
              <a:gd name="connsiteY3" fmla="*/ 2501961 h 2520658"/>
              <a:gd name="connsiteX4" fmla="*/ 1282425 w 2247277"/>
              <a:gd name="connsiteY4" fmla="*/ 1209235 h 2520658"/>
              <a:gd name="connsiteX5" fmla="*/ 2196745 w 2247277"/>
              <a:gd name="connsiteY5" fmla="*/ 90208 h 2520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7277" h="2520658">
                <a:moveTo>
                  <a:pt x="2247277" y="0"/>
                </a:moveTo>
                <a:lnTo>
                  <a:pt x="0" y="1"/>
                </a:lnTo>
                <a:lnTo>
                  <a:pt x="0" y="2520658"/>
                </a:lnTo>
                <a:lnTo>
                  <a:pt x="59422" y="2501961"/>
                </a:lnTo>
                <a:cubicBezTo>
                  <a:pt x="1064124" y="2146669"/>
                  <a:pt x="-23176" y="1265413"/>
                  <a:pt x="1282425" y="1209235"/>
                </a:cubicBezTo>
                <a:cubicBezTo>
                  <a:pt x="2234007" y="1146086"/>
                  <a:pt x="2023422" y="486970"/>
                  <a:pt x="2196745" y="90208"/>
                </a:cubicBezTo>
                <a:close/>
              </a:path>
            </a:pathLst>
          </a:custGeom>
          <a:solidFill>
            <a:srgbClr val="FEC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  <a:sym typeface="思源黑体 CN Bold" panose="020B0800000000000000" pitchFamily="34" charset="-122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 rot="10800000" flipH="1" flipV="1">
            <a:off x="-1" y="-2"/>
            <a:ext cx="2685495" cy="3429001"/>
          </a:xfrm>
          <a:custGeom>
            <a:avLst/>
            <a:gdLst>
              <a:gd name="connsiteX0" fmla="*/ 0 w 3322330"/>
              <a:gd name="connsiteY0" fmla="*/ 0 h 4481760"/>
              <a:gd name="connsiteX1" fmla="*/ 3322330 w 3322330"/>
              <a:gd name="connsiteY1" fmla="*/ 0 h 4481760"/>
              <a:gd name="connsiteX2" fmla="*/ 3254220 w 3322330"/>
              <a:gd name="connsiteY2" fmla="*/ 44888 h 4481760"/>
              <a:gd name="connsiteX3" fmla="*/ 1781303 w 3322330"/>
              <a:gd name="connsiteY3" fmla="*/ 2266900 h 4481760"/>
              <a:gd name="connsiteX4" fmla="*/ 60355 w 3322330"/>
              <a:gd name="connsiteY4" fmla="*/ 4459570 h 4481760"/>
              <a:gd name="connsiteX5" fmla="*/ 0 w 3322330"/>
              <a:gd name="connsiteY5" fmla="*/ 4481760 h 448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22330" h="4481760">
                <a:moveTo>
                  <a:pt x="0" y="0"/>
                </a:moveTo>
                <a:lnTo>
                  <a:pt x="3322330" y="0"/>
                </a:lnTo>
                <a:lnTo>
                  <a:pt x="3254220" y="44888"/>
                </a:lnTo>
                <a:cubicBezTo>
                  <a:pt x="2592868" y="547522"/>
                  <a:pt x="3338762" y="2138864"/>
                  <a:pt x="1781303" y="2266900"/>
                </a:cubicBezTo>
                <a:cubicBezTo>
                  <a:pt x="-11806" y="2362483"/>
                  <a:pt x="1534496" y="3884529"/>
                  <a:pt x="60355" y="4459570"/>
                </a:cubicBezTo>
                <a:lnTo>
                  <a:pt x="0" y="4481760"/>
                </a:lnTo>
                <a:close/>
              </a:path>
            </a:pathLst>
          </a:custGeom>
          <a:solidFill>
            <a:srgbClr val="0B4BE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  <a:sym typeface="思源黑体 CN Bold" panose="020B0800000000000000" pitchFamily="34" charset="-122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11088608">
            <a:off x="9700612" y="4568359"/>
            <a:ext cx="1132834" cy="1132834"/>
          </a:xfrm>
          <a:prstGeom prst="rtTriangle">
            <a:avLst/>
          </a:prstGeom>
          <a:solidFill>
            <a:srgbClr val="0B4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1203158" y="1080835"/>
            <a:ext cx="1524000" cy="1524000"/>
            <a:chOff x="4324350" y="2305050"/>
            <a:chExt cx="2228850" cy="2228850"/>
          </a:xfrm>
        </p:grpSpPr>
        <p:sp>
          <p:nvSpPr>
            <p:cNvPr id="12" name="椭圆 11"/>
            <p:cNvSpPr/>
            <p:nvPr/>
          </p:nvSpPr>
          <p:spPr>
            <a:xfrm>
              <a:off x="4324350" y="2305050"/>
              <a:ext cx="2228850" cy="2228850"/>
            </a:xfrm>
            <a:prstGeom prst="ellipse">
              <a:avLst/>
            </a:prstGeom>
            <a:solidFill>
              <a:srgbClr val="526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4552950" y="2533650"/>
              <a:ext cx="1771650" cy="1771650"/>
            </a:xfrm>
            <a:prstGeom prst="ellipse">
              <a:avLst/>
            </a:prstGeom>
            <a:solidFill>
              <a:srgbClr val="FEC6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5157788" y="3138488"/>
              <a:ext cx="561975" cy="561975"/>
            </a:xfrm>
            <a:prstGeom prst="ellipse">
              <a:avLst/>
            </a:prstGeom>
            <a:solidFill>
              <a:srgbClr val="FF6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endParaRPr>
            </a:p>
          </p:txBody>
        </p:sp>
      </p:grpSp>
      <p:sp>
        <p:nvSpPr>
          <p:cNvPr id="18" name="椭圆 17"/>
          <p:cNvSpPr/>
          <p:nvPr userDrawn="1"/>
        </p:nvSpPr>
        <p:spPr>
          <a:xfrm>
            <a:off x="-433138" y="709866"/>
            <a:ext cx="1167059" cy="1167059"/>
          </a:xfrm>
          <a:prstGeom prst="ellipse">
            <a:avLst/>
          </a:prstGeom>
          <a:pattFill prst="wdDnDiag">
            <a:fgClr>
              <a:srgbClr val="0B4BE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9689432" y="5837322"/>
            <a:ext cx="884319" cy="884319"/>
            <a:chOff x="4324350" y="2305050"/>
            <a:chExt cx="2228850" cy="2228850"/>
          </a:xfrm>
        </p:grpSpPr>
        <p:sp>
          <p:nvSpPr>
            <p:cNvPr id="20" name="椭圆 19"/>
            <p:cNvSpPr/>
            <p:nvPr/>
          </p:nvSpPr>
          <p:spPr>
            <a:xfrm>
              <a:off x="4324350" y="2305050"/>
              <a:ext cx="2228850" cy="2228850"/>
            </a:xfrm>
            <a:prstGeom prst="ellipse">
              <a:avLst/>
            </a:prstGeom>
            <a:solidFill>
              <a:srgbClr val="FF6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4552950" y="2533650"/>
              <a:ext cx="1771650" cy="1771650"/>
            </a:xfrm>
            <a:prstGeom prst="ellipse">
              <a:avLst/>
            </a:prstGeom>
            <a:solidFill>
              <a:srgbClr val="5267F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157788" y="3138488"/>
              <a:ext cx="561975" cy="561975"/>
            </a:xfrm>
            <a:prstGeom prst="ellipse">
              <a:avLst/>
            </a:prstGeom>
            <a:solidFill>
              <a:srgbClr val="FCE73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endParaRPr>
            </a:p>
          </p:txBody>
        </p:sp>
      </p:grpSp>
      <p:sp>
        <p:nvSpPr>
          <p:cNvPr id="23" name="立方体 22"/>
          <p:cNvSpPr/>
          <p:nvPr userDrawn="1"/>
        </p:nvSpPr>
        <p:spPr>
          <a:xfrm rot="20118608">
            <a:off x="414059" y="2861076"/>
            <a:ext cx="727599" cy="727599"/>
          </a:xfrm>
          <a:prstGeom prst="cube">
            <a:avLst/>
          </a:prstGeom>
          <a:solidFill>
            <a:srgbClr val="FEC6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24" name="直角三角形 23"/>
          <p:cNvSpPr/>
          <p:nvPr userDrawn="1"/>
        </p:nvSpPr>
        <p:spPr>
          <a:xfrm rot="15149045">
            <a:off x="4798839" y="5915061"/>
            <a:ext cx="567227" cy="567227"/>
          </a:xfrm>
          <a:prstGeom prst="rtTriangle">
            <a:avLst/>
          </a:prstGeom>
          <a:solidFill>
            <a:srgbClr val="0B4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25" name="直角三角形 24"/>
          <p:cNvSpPr/>
          <p:nvPr userDrawn="1"/>
        </p:nvSpPr>
        <p:spPr>
          <a:xfrm rot="15149045">
            <a:off x="10541912" y="3501209"/>
            <a:ext cx="567227" cy="567227"/>
          </a:xfrm>
          <a:prstGeom prst="rtTriangle">
            <a:avLst/>
          </a:prstGeom>
          <a:solidFill>
            <a:srgbClr val="FF91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5706309" y="-534524"/>
            <a:ext cx="779381" cy="374103"/>
            <a:chOff x="6141343" y="952029"/>
            <a:chExt cx="1800200" cy="864096"/>
          </a:xfrm>
        </p:grpSpPr>
        <p:sp>
          <p:nvSpPr>
            <p:cNvPr id="28" name="椭圆 27"/>
            <p:cNvSpPr/>
            <p:nvPr/>
          </p:nvSpPr>
          <p:spPr bwMode="auto">
            <a:xfrm>
              <a:off x="6141343" y="952029"/>
              <a:ext cx="864096" cy="864096"/>
            </a:xfrm>
            <a:prstGeom prst="ellipse">
              <a:avLst/>
            </a:prstGeom>
            <a:solidFill>
              <a:srgbClr val="0B4BE3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endParaRPr>
            </a:p>
          </p:txBody>
        </p:sp>
        <p:sp>
          <p:nvSpPr>
            <p:cNvPr id="29" name="椭圆 28"/>
            <p:cNvSpPr/>
            <p:nvPr/>
          </p:nvSpPr>
          <p:spPr bwMode="auto">
            <a:xfrm>
              <a:off x="7077447" y="952029"/>
              <a:ext cx="864096" cy="864096"/>
            </a:xfrm>
            <a:prstGeom prst="ellipse">
              <a:avLst/>
            </a:prstGeom>
            <a:solidFill>
              <a:srgbClr val="FF9101"/>
            </a:solidFill>
            <a:ln w="0">
              <a:noFill/>
              <a:prstDash val="solid"/>
              <a:miter lim="800000"/>
            </a:ln>
          </p:spPr>
          <p:txBody>
            <a:bodyPr vert="horz" wrap="square" lIns="128580" tIns="64290" rIns="128580" bIns="64290" numCol="1" rtlCol="0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endParaRPr>
            </a:p>
          </p:txBody>
        </p:sp>
      </p:grpSp>
      <p:sp>
        <p:nvSpPr>
          <p:cNvPr id="34" name="椭圆 33"/>
          <p:cNvSpPr/>
          <p:nvPr userDrawn="1"/>
        </p:nvSpPr>
        <p:spPr bwMode="auto">
          <a:xfrm>
            <a:off x="6524457" y="-550566"/>
            <a:ext cx="374103" cy="374103"/>
          </a:xfrm>
          <a:prstGeom prst="ellipse">
            <a:avLst/>
          </a:prstGeom>
          <a:solidFill>
            <a:srgbClr val="FF617A"/>
          </a:solidFill>
          <a:ln w="0">
            <a:noFill/>
            <a:prstDash val="solid"/>
            <a:miter lim="800000"/>
          </a:ln>
        </p:spPr>
        <p:txBody>
          <a:bodyPr vert="horz" wrap="square" lIns="128580" tIns="64290" rIns="128580" bIns="64290" numCol="1" rtlCol="0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35" name="Freeform: Shape 15"/>
          <p:cNvSpPr/>
          <p:nvPr userDrawn="1"/>
        </p:nvSpPr>
        <p:spPr bwMode="auto">
          <a:xfrm>
            <a:off x="0" y="4835525"/>
            <a:ext cx="1984375" cy="2022475"/>
          </a:xfrm>
          <a:custGeom>
            <a:avLst/>
            <a:gdLst>
              <a:gd name="connsiteX0" fmla="*/ 1984658 w 1984658"/>
              <a:gd name="connsiteY0" fmla="*/ 1450473 h 2023209"/>
              <a:gd name="connsiteX1" fmla="*/ 1962955 w 1984658"/>
              <a:gd name="connsiteY1" fmla="*/ 1620223 h 2023209"/>
              <a:gd name="connsiteX2" fmla="*/ 1679410 w 1984658"/>
              <a:gd name="connsiteY2" fmla="*/ 2023209 h 2023209"/>
              <a:gd name="connsiteX3" fmla="*/ 1581673 w 1984658"/>
              <a:gd name="connsiteY3" fmla="*/ 2023209 h 2023209"/>
              <a:gd name="connsiteX4" fmla="*/ 1967444 w 1984658"/>
              <a:gd name="connsiteY4" fmla="*/ 1127662 h 2023209"/>
              <a:gd name="connsiteX5" fmla="*/ 1981888 w 1984658"/>
              <a:gd name="connsiteY5" fmla="*/ 1246045 h 2023209"/>
              <a:gd name="connsiteX6" fmla="*/ 1435066 w 1984658"/>
              <a:gd name="connsiteY6" fmla="*/ 2023209 h 2023209"/>
              <a:gd name="connsiteX7" fmla="*/ 1337327 w 1984658"/>
              <a:gd name="connsiteY7" fmla="*/ 2023209 h 2023209"/>
              <a:gd name="connsiteX8" fmla="*/ 1899301 w 1984658"/>
              <a:gd name="connsiteY8" fmla="*/ 877239 h 2023209"/>
              <a:gd name="connsiteX9" fmla="*/ 1930174 w 1984658"/>
              <a:gd name="connsiteY9" fmla="*/ 972271 h 2023209"/>
              <a:gd name="connsiteX10" fmla="*/ 1190722 w 1984658"/>
              <a:gd name="connsiteY10" fmla="*/ 2023209 h 2023209"/>
              <a:gd name="connsiteX11" fmla="*/ 1092982 w 1984658"/>
              <a:gd name="connsiteY11" fmla="*/ 2023209 h 2023209"/>
              <a:gd name="connsiteX12" fmla="*/ 1799942 w 1984658"/>
              <a:gd name="connsiteY12" fmla="*/ 671179 h 2023209"/>
              <a:gd name="connsiteX13" fmla="*/ 1842313 w 1984658"/>
              <a:gd name="connsiteY13" fmla="*/ 749868 h 2023209"/>
              <a:gd name="connsiteX14" fmla="*/ 946375 w 1984658"/>
              <a:gd name="connsiteY14" fmla="*/ 2023209 h 2023209"/>
              <a:gd name="connsiteX15" fmla="*/ 848638 w 1984658"/>
              <a:gd name="connsiteY15" fmla="*/ 2023209 h 2023209"/>
              <a:gd name="connsiteX16" fmla="*/ 1675246 w 1984658"/>
              <a:gd name="connsiteY16" fmla="*/ 496168 h 2023209"/>
              <a:gd name="connsiteX17" fmla="*/ 1729812 w 1984658"/>
              <a:gd name="connsiteY17" fmla="*/ 562488 h 2023209"/>
              <a:gd name="connsiteX18" fmla="*/ 702031 w 1984658"/>
              <a:gd name="connsiteY18" fmla="*/ 2023209 h 2023209"/>
              <a:gd name="connsiteX19" fmla="*/ 600801 w 1984658"/>
              <a:gd name="connsiteY19" fmla="*/ 2023209 h 2023209"/>
              <a:gd name="connsiteX20" fmla="*/ 1534814 w 1984658"/>
              <a:gd name="connsiteY20" fmla="*/ 348484 h 2023209"/>
              <a:gd name="connsiteX21" fmla="*/ 1593616 w 1984658"/>
              <a:gd name="connsiteY21" fmla="*/ 403822 h 2023209"/>
              <a:gd name="connsiteX22" fmla="*/ 454197 w 1984658"/>
              <a:gd name="connsiteY22" fmla="*/ 2023209 h 2023209"/>
              <a:gd name="connsiteX23" fmla="*/ 356457 w 1984658"/>
              <a:gd name="connsiteY23" fmla="*/ 2023209 h 2023209"/>
              <a:gd name="connsiteX24" fmla="*/ 1376309 w 1984658"/>
              <a:gd name="connsiteY24" fmla="*/ 226486 h 2023209"/>
              <a:gd name="connsiteX25" fmla="*/ 1408995 w 1984658"/>
              <a:gd name="connsiteY25" fmla="*/ 249484 h 2023209"/>
              <a:gd name="connsiteX26" fmla="*/ 1441682 w 1984658"/>
              <a:gd name="connsiteY26" fmla="*/ 272483 h 2023209"/>
              <a:gd name="connsiteX27" fmla="*/ 209850 w 1984658"/>
              <a:gd name="connsiteY27" fmla="*/ 2023209 h 2023209"/>
              <a:gd name="connsiteX28" fmla="*/ 112113 w 1984658"/>
              <a:gd name="connsiteY28" fmla="*/ 2023209 h 2023209"/>
              <a:gd name="connsiteX29" fmla="*/ 1201375 w 1984658"/>
              <a:gd name="connsiteY29" fmla="*/ 127837 h 2023209"/>
              <a:gd name="connsiteX30" fmla="*/ 1273320 w 1984658"/>
              <a:gd name="connsiteY30" fmla="*/ 164494 h 2023209"/>
              <a:gd name="connsiteX31" fmla="*/ 0 w 1984658"/>
              <a:gd name="connsiteY31" fmla="*/ 1974185 h 2023209"/>
              <a:gd name="connsiteX32" fmla="*/ 0 w 1984658"/>
              <a:gd name="connsiteY32" fmla="*/ 1835278 h 2023209"/>
              <a:gd name="connsiteX33" fmla="*/ 84157 w 1984658"/>
              <a:gd name="connsiteY33" fmla="*/ 113258 h 2023209"/>
              <a:gd name="connsiteX34" fmla="*/ 0 w 1984658"/>
              <a:gd name="connsiteY34" fmla="*/ 232865 h 2023209"/>
              <a:gd name="connsiteX35" fmla="*/ 0 w 1984658"/>
              <a:gd name="connsiteY35" fmla="*/ 152248 h 2023209"/>
              <a:gd name="connsiteX36" fmla="*/ 6537 w 1984658"/>
              <a:gd name="connsiteY36" fmla="*/ 148537 h 2023209"/>
              <a:gd name="connsiteX37" fmla="*/ 84157 w 1984658"/>
              <a:gd name="connsiteY37" fmla="*/ 113258 h 2023209"/>
              <a:gd name="connsiteX38" fmla="*/ 1008368 w 1984658"/>
              <a:gd name="connsiteY38" fmla="*/ 54872 h 2023209"/>
              <a:gd name="connsiteX39" fmla="*/ 1086886 w 1984658"/>
              <a:gd name="connsiteY39" fmla="*/ 82190 h 2023209"/>
              <a:gd name="connsiteX40" fmla="*/ 0 w 1984658"/>
              <a:gd name="connsiteY40" fmla="*/ 1626914 h 2023209"/>
              <a:gd name="connsiteX41" fmla="*/ 0 w 1984658"/>
              <a:gd name="connsiteY41" fmla="*/ 1488003 h 2023209"/>
              <a:gd name="connsiteX42" fmla="*/ 393812 w 1984658"/>
              <a:gd name="connsiteY42" fmla="*/ 20436 h 2023209"/>
              <a:gd name="connsiteX43" fmla="*/ 0 w 1984658"/>
              <a:gd name="connsiteY43" fmla="*/ 580136 h 2023209"/>
              <a:gd name="connsiteX44" fmla="*/ 0 w 1984658"/>
              <a:gd name="connsiteY44" fmla="*/ 441226 h 2023209"/>
              <a:gd name="connsiteX45" fmla="*/ 277507 w 1984658"/>
              <a:gd name="connsiteY45" fmla="*/ 46822 h 2023209"/>
              <a:gd name="connsiteX46" fmla="*/ 393812 w 1984658"/>
              <a:gd name="connsiteY46" fmla="*/ 20436 h 2023209"/>
              <a:gd name="connsiteX47" fmla="*/ 791668 w 1984658"/>
              <a:gd name="connsiteY47" fmla="*/ 10622 h 2023209"/>
              <a:gd name="connsiteX48" fmla="*/ 880043 w 1984658"/>
              <a:gd name="connsiteY48" fmla="*/ 23927 h 2023209"/>
              <a:gd name="connsiteX49" fmla="*/ 0 w 1984658"/>
              <a:gd name="connsiteY49" fmla="*/ 1274678 h 2023209"/>
              <a:gd name="connsiteX50" fmla="*/ 0 w 1984658"/>
              <a:gd name="connsiteY50" fmla="*/ 1135771 h 2023209"/>
              <a:gd name="connsiteX51" fmla="*/ 652535 w 1984658"/>
              <a:gd name="connsiteY51" fmla="*/ 0 h 2023209"/>
              <a:gd name="connsiteX52" fmla="*/ 0 w 1984658"/>
              <a:gd name="connsiteY52" fmla="*/ 927407 h 2023209"/>
              <a:gd name="connsiteX53" fmla="*/ 0 w 1984658"/>
              <a:gd name="connsiteY53" fmla="*/ 788500 h 2023209"/>
              <a:gd name="connsiteX54" fmla="*/ 552661 w 1984658"/>
              <a:gd name="connsiteY54" fmla="*/ 3037 h 2023209"/>
              <a:gd name="connsiteX55" fmla="*/ 652535 w 1984658"/>
              <a:gd name="connsiteY55" fmla="*/ 0 h 2023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984658" h="2023209">
                <a:moveTo>
                  <a:pt x="1984658" y="1450473"/>
                </a:moveTo>
                <a:cubicBezTo>
                  <a:pt x="1982409" y="1508237"/>
                  <a:pt x="1975493" y="1562717"/>
                  <a:pt x="1962955" y="1620223"/>
                </a:cubicBezTo>
                <a:lnTo>
                  <a:pt x="1679410" y="2023209"/>
                </a:lnTo>
                <a:lnTo>
                  <a:pt x="1581673" y="2023209"/>
                </a:lnTo>
                <a:close/>
                <a:moveTo>
                  <a:pt x="1967444" y="1127662"/>
                </a:moveTo>
                <a:cubicBezTo>
                  <a:pt x="1974363" y="1167440"/>
                  <a:pt x="1978946" y="1205574"/>
                  <a:pt x="1981888" y="1246045"/>
                </a:cubicBezTo>
                <a:lnTo>
                  <a:pt x="1435066" y="2023209"/>
                </a:lnTo>
                <a:lnTo>
                  <a:pt x="1337327" y="2023209"/>
                </a:lnTo>
                <a:close/>
                <a:moveTo>
                  <a:pt x="1899301" y="877239"/>
                </a:moveTo>
                <a:cubicBezTo>
                  <a:pt x="1908813" y="908368"/>
                  <a:pt x="1922303" y="938806"/>
                  <a:pt x="1930174" y="972271"/>
                </a:cubicBezTo>
                <a:lnTo>
                  <a:pt x="1190722" y="2023209"/>
                </a:lnTo>
                <a:lnTo>
                  <a:pt x="1092982" y="2023209"/>
                </a:lnTo>
                <a:close/>
                <a:moveTo>
                  <a:pt x="1799942" y="671179"/>
                </a:moveTo>
                <a:cubicBezTo>
                  <a:pt x="1814382" y="695305"/>
                  <a:pt x="1829516" y="723407"/>
                  <a:pt x="1842313" y="749868"/>
                </a:cubicBezTo>
                <a:lnTo>
                  <a:pt x="946375" y="2023209"/>
                </a:lnTo>
                <a:lnTo>
                  <a:pt x="848638" y="2023209"/>
                </a:lnTo>
                <a:close/>
                <a:moveTo>
                  <a:pt x="1675246" y="496168"/>
                </a:moveTo>
                <a:cubicBezTo>
                  <a:pt x="1695308" y="517267"/>
                  <a:pt x="1711391" y="539056"/>
                  <a:pt x="1729812" y="562488"/>
                </a:cubicBezTo>
                <a:lnTo>
                  <a:pt x="702031" y="2023209"/>
                </a:lnTo>
                <a:lnTo>
                  <a:pt x="600801" y="2023209"/>
                </a:lnTo>
                <a:close/>
                <a:moveTo>
                  <a:pt x="1534814" y="348484"/>
                </a:moveTo>
                <a:cubicBezTo>
                  <a:pt x="1556519" y="367247"/>
                  <a:pt x="1575889" y="384366"/>
                  <a:pt x="1593616" y="403822"/>
                </a:cubicBezTo>
                <a:lnTo>
                  <a:pt x="454197" y="2023209"/>
                </a:lnTo>
                <a:lnTo>
                  <a:pt x="356457" y="2023209"/>
                </a:lnTo>
                <a:close/>
                <a:moveTo>
                  <a:pt x="1376309" y="226486"/>
                </a:moveTo>
                <a:cubicBezTo>
                  <a:pt x="1387983" y="234700"/>
                  <a:pt x="1397321" y="241270"/>
                  <a:pt x="1408995" y="249484"/>
                </a:cubicBezTo>
                <a:cubicBezTo>
                  <a:pt x="1420670" y="257698"/>
                  <a:pt x="1430008" y="264268"/>
                  <a:pt x="1441682" y="272483"/>
                </a:cubicBezTo>
                <a:lnTo>
                  <a:pt x="209850" y="2023209"/>
                </a:lnTo>
                <a:lnTo>
                  <a:pt x="112113" y="2023209"/>
                </a:lnTo>
                <a:close/>
                <a:moveTo>
                  <a:pt x="1201375" y="127837"/>
                </a:moveTo>
                <a:cubicBezTo>
                  <a:pt x="1225674" y="137951"/>
                  <a:pt x="1248329" y="150401"/>
                  <a:pt x="1273320" y="164494"/>
                </a:cubicBezTo>
                <a:lnTo>
                  <a:pt x="0" y="1974185"/>
                </a:lnTo>
                <a:lnTo>
                  <a:pt x="0" y="1835278"/>
                </a:lnTo>
                <a:close/>
                <a:moveTo>
                  <a:pt x="84157" y="113258"/>
                </a:moveTo>
                <a:lnTo>
                  <a:pt x="0" y="232865"/>
                </a:lnTo>
                <a:lnTo>
                  <a:pt x="0" y="152248"/>
                </a:lnTo>
                <a:lnTo>
                  <a:pt x="6537" y="148537"/>
                </a:lnTo>
                <a:cubicBezTo>
                  <a:pt x="31711" y="135704"/>
                  <a:pt x="57350" y="124070"/>
                  <a:pt x="84157" y="113258"/>
                </a:cubicBezTo>
                <a:close/>
                <a:moveTo>
                  <a:pt x="1008368" y="54872"/>
                </a:moveTo>
                <a:cubicBezTo>
                  <a:pt x="1034310" y="62654"/>
                  <a:pt x="1060251" y="70433"/>
                  <a:pt x="1086886" y="82190"/>
                </a:cubicBezTo>
                <a:lnTo>
                  <a:pt x="0" y="1626914"/>
                </a:lnTo>
                <a:lnTo>
                  <a:pt x="0" y="1488003"/>
                </a:lnTo>
                <a:close/>
                <a:moveTo>
                  <a:pt x="393812" y="20436"/>
                </a:moveTo>
                <a:lnTo>
                  <a:pt x="0" y="580136"/>
                </a:lnTo>
                <a:lnTo>
                  <a:pt x="0" y="441226"/>
                </a:lnTo>
                <a:lnTo>
                  <a:pt x="277507" y="46822"/>
                </a:lnTo>
                <a:cubicBezTo>
                  <a:pt x="316593" y="35923"/>
                  <a:pt x="354034" y="27357"/>
                  <a:pt x="393812" y="20436"/>
                </a:cubicBezTo>
                <a:close/>
                <a:moveTo>
                  <a:pt x="791668" y="10622"/>
                </a:moveTo>
                <a:cubicBezTo>
                  <a:pt x="823230" y="15373"/>
                  <a:pt x="852458" y="18484"/>
                  <a:pt x="880043" y="23927"/>
                </a:cubicBezTo>
                <a:lnTo>
                  <a:pt x="0" y="1274678"/>
                </a:lnTo>
                <a:lnTo>
                  <a:pt x="0" y="1135771"/>
                </a:lnTo>
                <a:close/>
                <a:moveTo>
                  <a:pt x="652535" y="0"/>
                </a:moveTo>
                <a:lnTo>
                  <a:pt x="0" y="927407"/>
                </a:lnTo>
                <a:lnTo>
                  <a:pt x="0" y="788500"/>
                </a:lnTo>
                <a:lnTo>
                  <a:pt x="552661" y="3037"/>
                </a:lnTo>
                <a:cubicBezTo>
                  <a:pt x="586816" y="-858"/>
                  <a:pt x="620022" y="1560"/>
                  <a:pt x="652535" y="0"/>
                </a:cubicBezTo>
                <a:close/>
              </a:path>
            </a:pathLst>
          </a:custGeom>
          <a:solidFill>
            <a:srgbClr val="FF617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+mn-ea"/>
              <a:cs typeface="+mn-cs"/>
            </a:endParaRPr>
          </a:p>
        </p:txBody>
      </p:sp>
      <p:sp>
        <p:nvSpPr>
          <p:cNvPr id="36" name="Freeform: Shape 16"/>
          <p:cNvSpPr/>
          <p:nvPr userDrawn="1"/>
        </p:nvSpPr>
        <p:spPr bwMode="auto">
          <a:xfrm>
            <a:off x="9867900" y="0"/>
            <a:ext cx="2324100" cy="2211388"/>
          </a:xfrm>
          <a:custGeom>
            <a:avLst/>
            <a:gdLst>
              <a:gd name="connsiteX0" fmla="*/ 37824 w 2871744"/>
              <a:gd name="connsiteY0" fmla="*/ 0 h 2732056"/>
              <a:gd name="connsiteX1" fmla="*/ 581713 w 2871744"/>
              <a:gd name="connsiteY1" fmla="*/ 0 h 2732056"/>
              <a:gd name="connsiteX2" fmla="*/ 569927 w 2871744"/>
              <a:gd name="connsiteY2" fmla="*/ 45834 h 2732056"/>
              <a:gd name="connsiteX3" fmla="*/ 533528 w 2871744"/>
              <a:gd name="connsiteY3" fmla="*/ 406908 h 2732056"/>
              <a:gd name="connsiteX4" fmla="*/ 2325147 w 2871744"/>
              <a:gd name="connsiteY4" fmla="*/ 2198527 h 2732056"/>
              <a:gd name="connsiteX5" fmla="*/ 2857920 w 2871744"/>
              <a:gd name="connsiteY5" fmla="*/ 2117979 h 2732056"/>
              <a:gd name="connsiteX6" fmla="*/ 2871744 w 2871744"/>
              <a:gd name="connsiteY6" fmla="*/ 2112920 h 2732056"/>
              <a:gd name="connsiteX7" fmla="*/ 2871744 w 2871744"/>
              <a:gd name="connsiteY7" fmla="*/ 2664762 h 2732056"/>
              <a:gd name="connsiteX8" fmla="*/ 2793747 w 2871744"/>
              <a:gd name="connsiteY8" fmla="*/ 2684817 h 2732056"/>
              <a:gd name="connsiteX9" fmla="*/ 2325148 w 2871744"/>
              <a:gd name="connsiteY9" fmla="*/ 2732056 h 2732056"/>
              <a:gd name="connsiteX10" fmla="*/ 0 w 2871744"/>
              <a:gd name="connsiteY10" fmla="*/ 406908 h 2732056"/>
              <a:gd name="connsiteX11" fmla="*/ 12005 w 2871744"/>
              <a:gd name="connsiteY11" fmla="*/ 169175 h 273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1744" h="2732056">
                <a:moveTo>
                  <a:pt x="37824" y="0"/>
                </a:moveTo>
                <a:lnTo>
                  <a:pt x="581713" y="0"/>
                </a:lnTo>
                <a:lnTo>
                  <a:pt x="569927" y="45834"/>
                </a:lnTo>
                <a:cubicBezTo>
                  <a:pt x="546061" y="162464"/>
                  <a:pt x="533528" y="283223"/>
                  <a:pt x="533528" y="406908"/>
                </a:cubicBezTo>
                <a:cubicBezTo>
                  <a:pt x="533528" y="1396392"/>
                  <a:pt x="1335663" y="2198527"/>
                  <a:pt x="2325147" y="2198527"/>
                </a:cubicBezTo>
                <a:cubicBezTo>
                  <a:pt x="2510675" y="2198527"/>
                  <a:pt x="2689617" y="2170327"/>
                  <a:pt x="2857920" y="2117979"/>
                </a:cubicBezTo>
                <a:lnTo>
                  <a:pt x="2871744" y="2112920"/>
                </a:lnTo>
                <a:lnTo>
                  <a:pt x="2871744" y="2664762"/>
                </a:lnTo>
                <a:lnTo>
                  <a:pt x="2793747" y="2684817"/>
                </a:lnTo>
                <a:cubicBezTo>
                  <a:pt x="2642385" y="2715790"/>
                  <a:pt x="2485666" y="2732056"/>
                  <a:pt x="2325148" y="2732056"/>
                </a:cubicBezTo>
                <a:cubicBezTo>
                  <a:pt x="1041004" y="2732056"/>
                  <a:pt x="0" y="1691052"/>
                  <a:pt x="0" y="406908"/>
                </a:cubicBezTo>
                <a:cubicBezTo>
                  <a:pt x="0" y="326649"/>
                  <a:pt x="4067" y="247340"/>
                  <a:pt x="12005" y="169175"/>
                </a:cubicBezTo>
                <a:close/>
              </a:path>
            </a:pathLst>
          </a:custGeom>
          <a:solidFill>
            <a:srgbClr val="FF6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" panose="02020400000000000000" pitchFamily="18" charset="-122"/>
              <a:ea typeface="+mn-ea"/>
              <a:cs typeface="+mn-cs"/>
            </a:endParaRPr>
          </a:p>
        </p:txBody>
      </p:sp>
      <p:sp>
        <p:nvSpPr>
          <p:cNvPr id="37" name="Freeform: Shape 17"/>
          <p:cNvSpPr/>
          <p:nvPr userDrawn="1"/>
        </p:nvSpPr>
        <p:spPr bwMode="auto">
          <a:xfrm rot="10800000">
            <a:off x="10585450" y="0"/>
            <a:ext cx="1606550" cy="1636713"/>
          </a:xfrm>
          <a:custGeom>
            <a:avLst/>
            <a:gdLst>
              <a:gd name="connsiteX0" fmla="*/ 1984658 w 1984658"/>
              <a:gd name="connsiteY0" fmla="*/ 1450473 h 2023209"/>
              <a:gd name="connsiteX1" fmla="*/ 1962955 w 1984658"/>
              <a:gd name="connsiteY1" fmla="*/ 1620223 h 2023209"/>
              <a:gd name="connsiteX2" fmla="*/ 1679410 w 1984658"/>
              <a:gd name="connsiteY2" fmla="*/ 2023209 h 2023209"/>
              <a:gd name="connsiteX3" fmla="*/ 1581673 w 1984658"/>
              <a:gd name="connsiteY3" fmla="*/ 2023209 h 2023209"/>
              <a:gd name="connsiteX4" fmla="*/ 1967444 w 1984658"/>
              <a:gd name="connsiteY4" fmla="*/ 1127662 h 2023209"/>
              <a:gd name="connsiteX5" fmla="*/ 1981888 w 1984658"/>
              <a:gd name="connsiteY5" fmla="*/ 1246045 h 2023209"/>
              <a:gd name="connsiteX6" fmla="*/ 1435066 w 1984658"/>
              <a:gd name="connsiteY6" fmla="*/ 2023209 h 2023209"/>
              <a:gd name="connsiteX7" fmla="*/ 1337327 w 1984658"/>
              <a:gd name="connsiteY7" fmla="*/ 2023209 h 2023209"/>
              <a:gd name="connsiteX8" fmla="*/ 1899301 w 1984658"/>
              <a:gd name="connsiteY8" fmla="*/ 877239 h 2023209"/>
              <a:gd name="connsiteX9" fmla="*/ 1930174 w 1984658"/>
              <a:gd name="connsiteY9" fmla="*/ 972271 h 2023209"/>
              <a:gd name="connsiteX10" fmla="*/ 1190722 w 1984658"/>
              <a:gd name="connsiteY10" fmla="*/ 2023209 h 2023209"/>
              <a:gd name="connsiteX11" fmla="*/ 1092982 w 1984658"/>
              <a:gd name="connsiteY11" fmla="*/ 2023209 h 2023209"/>
              <a:gd name="connsiteX12" fmla="*/ 1799942 w 1984658"/>
              <a:gd name="connsiteY12" fmla="*/ 671179 h 2023209"/>
              <a:gd name="connsiteX13" fmla="*/ 1842313 w 1984658"/>
              <a:gd name="connsiteY13" fmla="*/ 749868 h 2023209"/>
              <a:gd name="connsiteX14" fmla="*/ 946375 w 1984658"/>
              <a:gd name="connsiteY14" fmla="*/ 2023209 h 2023209"/>
              <a:gd name="connsiteX15" fmla="*/ 848638 w 1984658"/>
              <a:gd name="connsiteY15" fmla="*/ 2023209 h 2023209"/>
              <a:gd name="connsiteX16" fmla="*/ 1675246 w 1984658"/>
              <a:gd name="connsiteY16" fmla="*/ 496168 h 2023209"/>
              <a:gd name="connsiteX17" fmla="*/ 1729812 w 1984658"/>
              <a:gd name="connsiteY17" fmla="*/ 562488 h 2023209"/>
              <a:gd name="connsiteX18" fmla="*/ 702031 w 1984658"/>
              <a:gd name="connsiteY18" fmla="*/ 2023209 h 2023209"/>
              <a:gd name="connsiteX19" fmla="*/ 600801 w 1984658"/>
              <a:gd name="connsiteY19" fmla="*/ 2023209 h 2023209"/>
              <a:gd name="connsiteX20" fmla="*/ 1534814 w 1984658"/>
              <a:gd name="connsiteY20" fmla="*/ 348484 h 2023209"/>
              <a:gd name="connsiteX21" fmla="*/ 1593616 w 1984658"/>
              <a:gd name="connsiteY21" fmla="*/ 403822 h 2023209"/>
              <a:gd name="connsiteX22" fmla="*/ 454197 w 1984658"/>
              <a:gd name="connsiteY22" fmla="*/ 2023209 h 2023209"/>
              <a:gd name="connsiteX23" fmla="*/ 356457 w 1984658"/>
              <a:gd name="connsiteY23" fmla="*/ 2023209 h 2023209"/>
              <a:gd name="connsiteX24" fmla="*/ 1376309 w 1984658"/>
              <a:gd name="connsiteY24" fmla="*/ 226486 h 2023209"/>
              <a:gd name="connsiteX25" fmla="*/ 1408995 w 1984658"/>
              <a:gd name="connsiteY25" fmla="*/ 249484 h 2023209"/>
              <a:gd name="connsiteX26" fmla="*/ 1441682 w 1984658"/>
              <a:gd name="connsiteY26" fmla="*/ 272483 h 2023209"/>
              <a:gd name="connsiteX27" fmla="*/ 209850 w 1984658"/>
              <a:gd name="connsiteY27" fmla="*/ 2023209 h 2023209"/>
              <a:gd name="connsiteX28" fmla="*/ 112113 w 1984658"/>
              <a:gd name="connsiteY28" fmla="*/ 2023209 h 2023209"/>
              <a:gd name="connsiteX29" fmla="*/ 1201375 w 1984658"/>
              <a:gd name="connsiteY29" fmla="*/ 127837 h 2023209"/>
              <a:gd name="connsiteX30" fmla="*/ 1273320 w 1984658"/>
              <a:gd name="connsiteY30" fmla="*/ 164494 h 2023209"/>
              <a:gd name="connsiteX31" fmla="*/ 0 w 1984658"/>
              <a:gd name="connsiteY31" fmla="*/ 1974185 h 2023209"/>
              <a:gd name="connsiteX32" fmla="*/ 0 w 1984658"/>
              <a:gd name="connsiteY32" fmla="*/ 1835278 h 2023209"/>
              <a:gd name="connsiteX33" fmla="*/ 84157 w 1984658"/>
              <a:gd name="connsiteY33" fmla="*/ 113258 h 2023209"/>
              <a:gd name="connsiteX34" fmla="*/ 0 w 1984658"/>
              <a:gd name="connsiteY34" fmla="*/ 232865 h 2023209"/>
              <a:gd name="connsiteX35" fmla="*/ 0 w 1984658"/>
              <a:gd name="connsiteY35" fmla="*/ 152248 h 2023209"/>
              <a:gd name="connsiteX36" fmla="*/ 6537 w 1984658"/>
              <a:gd name="connsiteY36" fmla="*/ 148537 h 2023209"/>
              <a:gd name="connsiteX37" fmla="*/ 84157 w 1984658"/>
              <a:gd name="connsiteY37" fmla="*/ 113258 h 2023209"/>
              <a:gd name="connsiteX38" fmla="*/ 1008368 w 1984658"/>
              <a:gd name="connsiteY38" fmla="*/ 54872 h 2023209"/>
              <a:gd name="connsiteX39" fmla="*/ 1086886 w 1984658"/>
              <a:gd name="connsiteY39" fmla="*/ 82190 h 2023209"/>
              <a:gd name="connsiteX40" fmla="*/ 0 w 1984658"/>
              <a:gd name="connsiteY40" fmla="*/ 1626914 h 2023209"/>
              <a:gd name="connsiteX41" fmla="*/ 0 w 1984658"/>
              <a:gd name="connsiteY41" fmla="*/ 1488003 h 2023209"/>
              <a:gd name="connsiteX42" fmla="*/ 393812 w 1984658"/>
              <a:gd name="connsiteY42" fmla="*/ 20436 h 2023209"/>
              <a:gd name="connsiteX43" fmla="*/ 0 w 1984658"/>
              <a:gd name="connsiteY43" fmla="*/ 580136 h 2023209"/>
              <a:gd name="connsiteX44" fmla="*/ 0 w 1984658"/>
              <a:gd name="connsiteY44" fmla="*/ 441226 h 2023209"/>
              <a:gd name="connsiteX45" fmla="*/ 277507 w 1984658"/>
              <a:gd name="connsiteY45" fmla="*/ 46822 h 2023209"/>
              <a:gd name="connsiteX46" fmla="*/ 393812 w 1984658"/>
              <a:gd name="connsiteY46" fmla="*/ 20436 h 2023209"/>
              <a:gd name="connsiteX47" fmla="*/ 791668 w 1984658"/>
              <a:gd name="connsiteY47" fmla="*/ 10622 h 2023209"/>
              <a:gd name="connsiteX48" fmla="*/ 880043 w 1984658"/>
              <a:gd name="connsiteY48" fmla="*/ 23927 h 2023209"/>
              <a:gd name="connsiteX49" fmla="*/ 0 w 1984658"/>
              <a:gd name="connsiteY49" fmla="*/ 1274678 h 2023209"/>
              <a:gd name="connsiteX50" fmla="*/ 0 w 1984658"/>
              <a:gd name="connsiteY50" fmla="*/ 1135771 h 2023209"/>
              <a:gd name="connsiteX51" fmla="*/ 652535 w 1984658"/>
              <a:gd name="connsiteY51" fmla="*/ 0 h 2023209"/>
              <a:gd name="connsiteX52" fmla="*/ 0 w 1984658"/>
              <a:gd name="connsiteY52" fmla="*/ 927407 h 2023209"/>
              <a:gd name="connsiteX53" fmla="*/ 0 w 1984658"/>
              <a:gd name="connsiteY53" fmla="*/ 788500 h 2023209"/>
              <a:gd name="connsiteX54" fmla="*/ 552661 w 1984658"/>
              <a:gd name="connsiteY54" fmla="*/ 3037 h 2023209"/>
              <a:gd name="connsiteX55" fmla="*/ 652535 w 1984658"/>
              <a:gd name="connsiteY55" fmla="*/ 0 h 2023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984658" h="2023209">
                <a:moveTo>
                  <a:pt x="1984658" y="1450473"/>
                </a:moveTo>
                <a:cubicBezTo>
                  <a:pt x="1982409" y="1508237"/>
                  <a:pt x="1975493" y="1562717"/>
                  <a:pt x="1962955" y="1620223"/>
                </a:cubicBezTo>
                <a:lnTo>
                  <a:pt x="1679410" y="2023209"/>
                </a:lnTo>
                <a:lnTo>
                  <a:pt x="1581673" y="2023209"/>
                </a:lnTo>
                <a:close/>
                <a:moveTo>
                  <a:pt x="1967444" y="1127662"/>
                </a:moveTo>
                <a:cubicBezTo>
                  <a:pt x="1974363" y="1167440"/>
                  <a:pt x="1978946" y="1205574"/>
                  <a:pt x="1981888" y="1246045"/>
                </a:cubicBezTo>
                <a:lnTo>
                  <a:pt x="1435066" y="2023209"/>
                </a:lnTo>
                <a:lnTo>
                  <a:pt x="1337327" y="2023209"/>
                </a:lnTo>
                <a:close/>
                <a:moveTo>
                  <a:pt x="1899301" y="877239"/>
                </a:moveTo>
                <a:cubicBezTo>
                  <a:pt x="1908813" y="908368"/>
                  <a:pt x="1922303" y="938806"/>
                  <a:pt x="1930174" y="972271"/>
                </a:cubicBezTo>
                <a:lnTo>
                  <a:pt x="1190722" y="2023209"/>
                </a:lnTo>
                <a:lnTo>
                  <a:pt x="1092982" y="2023209"/>
                </a:lnTo>
                <a:close/>
                <a:moveTo>
                  <a:pt x="1799942" y="671179"/>
                </a:moveTo>
                <a:cubicBezTo>
                  <a:pt x="1814382" y="695305"/>
                  <a:pt x="1829516" y="723407"/>
                  <a:pt x="1842313" y="749868"/>
                </a:cubicBezTo>
                <a:lnTo>
                  <a:pt x="946375" y="2023209"/>
                </a:lnTo>
                <a:lnTo>
                  <a:pt x="848638" y="2023209"/>
                </a:lnTo>
                <a:close/>
                <a:moveTo>
                  <a:pt x="1675246" y="496168"/>
                </a:moveTo>
                <a:cubicBezTo>
                  <a:pt x="1695308" y="517267"/>
                  <a:pt x="1711391" y="539056"/>
                  <a:pt x="1729812" y="562488"/>
                </a:cubicBezTo>
                <a:lnTo>
                  <a:pt x="702031" y="2023209"/>
                </a:lnTo>
                <a:lnTo>
                  <a:pt x="600801" y="2023209"/>
                </a:lnTo>
                <a:close/>
                <a:moveTo>
                  <a:pt x="1534814" y="348484"/>
                </a:moveTo>
                <a:cubicBezTo>
                  <a:pt x="1556519" y="367247"/>
                  <a:pt x="1575889" y="384366"/>
                  <a:pt x="1593616" y="403822"/>
                </a:cubicBezTo>
                <a:lnTo>
                  <a:pt x="454197" y="2023209"/>
                </a:lnTo>
                <a:lnTo>
                  <a:pt x="356457" y="2023209"/>
                </a:lnTo>
                <a:close/>
                <a:moveTo>
                  <a:pt x="1376309" y="226486"/>
                </a:moveTo>
                <a:cubicBezTo>
                  <a:pt x="1387983" y="234700"/>
                  <a:pt x="1397321" y="241270"/>
                  <a:pt x="1408995" y="249484"/>
                </a:cubicBezTo>
                <a:cubicBezTo>
                  <a:pt x="1420670" y="257698"/>
                  <a:pt x="1430008" y="264268"/>
                  <a:pt x="1441682" y="272483"/>
                </a:cubicBezTo>
                <a:lnTo>
                  <a:pt x="209850" y="2023209"/>
                </a:lnTo>
                <a:lnTo>
                  <a:pt x="112113" y="2023209"/>
                </a:lnTo>
                <a:close/>
                <a:moveTo>
                  <a:pt x="1201375" y="127837"/>
                </a:moveTo>
                <a:cubicBezTo>
                  <a:pt x="1225674" y="137951"/>
                  <a:pt x="1248329" y="150401"/>
                  <a:pt x="1273320" y="164494"/>
                </a:cubicBezTo>
                <a:lnTo>
                  <a:pt x="0" y="1974185"/>
                </a:lnTo>
                <a:lnTo>
                  <a:pt x="0" y="1835278"/>
                </a:lnTo>
                <a:close/>
                <a:moveTo>
                  <a:pt x="84157" y="113258"/>
                </a:moveTo>
                <a:lnTo>
                  <a:pt x="0" y="232865"/>
                </a:lnTo>
                <a:lnTo>
                  <a:pt x="0" y="152248"/>
                </a:lnTo>
                <a:lnTo>
                  <a:pt x="6537" y="148537"/>
                </a:lnTo>
                <a:cubicBezTo>
                  <a:pt x="31711" y="135704"/>
                  <a:pt x="57350" y="124070"/>
                  <a:pt x="84157" y="113258"/>
                </a:cubicBezTo>
                <a:close/>
                <a:moveTo>
                  <a:pt x="1008368" y="54872"/>
                </a:moveTo>
                <a:cubicBezTo>
                  <a:pt x="1034310" y="62654"/>
                  <a:pt x="1060251" y="70433"/>
                  <a:pt x="1086886" y="82190"/>
                </a:cubicBezTo>
                <a:lnTo>
                  <a:pt x="0" y="1626914"/>
                </a:lnTo>
                <a:lnTo>
                  <a:pt x="0" y="1488003"/>
                </a:lnTo>
                <a:close/>
                <a:moveTo>
                  <a:pt x="393812" y="20436"/>
                </a:moveTo>
                <a:lnTo>
                  <a:pt x="0" y="580136"/>
                </a:lnTo>
                <a:lnTo>
                  <a:pt x="0" y="441226"/>
                </a:lnTo>
                <a:lnTo>
                  <a:pt x="277507" y="46822"/>
                </a:lnTo>
                <a:cubicBezTo>
                  <a:pt x="316593" y="35923"/>
                  <a:pt x="354034" y="27357"/>
                  <a:pt x="393812" y="20436"/>
                </a:cubicBezTo>
                <a:close/>
                <a:moveTo>
                  <a:pt x="791668" y="10622"/>
                </a:moveTo>
                <a:cubicBezTo>
                  <a:pt x="823230" y="15373"/>
                  <a:pt x="852458" y="18484"/>
                  <a:pt x="880043" y="23927"/>
                </a:cubicBezTo>
                <a:lnTo>
                  <a:pt x="0" y="1274678"/>
                </a:lnTo>
                <a:lnTo>
                  <a:pt x="0" y="1135771"/>
                </a:lnTo>
                <a:close/>
                <a:moveTo>
                  <a:pt x="652535" y="0"/>
                </a:moveTo>
                <a:lnTo>
                  <a:pt x="0" y="927407"/>
                </a:lnTo>
                <a:lnTo>
                  <a:pt x="0" y="788500"/>
                </a:lnTo>
                <a:lnTo>
                  <a:pt x="552661" y="3037"/>
                </a:lnTo>
                <a:cubicBezTo>
                  <a:pt x="586816" y="-858"/>
                  <a:pt x="620022" y="1560"/>
                  <a:pt x="652535" y="0"/>
                </a:cubicBezTo>
                <a:close/>
              </a:path>
            </a:pathLst>
          </a:custGeom>
          <a:solidFill>
            <a:srgbClr val="0B4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+mn-ea"/>
              <a:cs typeface="+mn-cs"/>
            </a:endParaRPr>
          </a:p>
        </p:txBody>
      </p:sp>
      <p:sp>
        <p:nvSpPr>
          <p:cNvPr id="38" name="圆柱体 37"/>
          <p:cNvSpPr/>
          <p:nvPr userDrawn="1"/>
        </p:nvSpPr>
        <p:spPr>
          <a:xfrm rot="3117991">
            <a:off x="11149263" y="4138865"/>
            <a:ext cx="542777" cy="721894"/>
          </a:xfrm>
          <a:prstGeom prst="can">
            <a:avLst/>
          </a:prstGeom>
          <a:solidFill>
            <a:srgbClr val="FF617A"/>
          </a:solidFill>
          <a:ln>
            <a:solidFill>
              <a:srgbClr val="0B4B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42" name="矩形: 圆角 41"/>
          <p:cNvSpPr/>
          <p:nvPr userDrawn="1"/>
        </p:nvSpPr>
        <p:spPr>
          <a:xfrm>
            <a:off x="360947" y="343197"/>
            <a:ext cx="11470106" cy="617160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0">
            <a:noFill/>
          </a:ln>
          <a:effectLst>
            <a:outerShdw blurRad="76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10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921689-3CF2-4DE4-AE51-04602145057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102870" y="76511"/>
            <a:ext cx="927627" cy="822697"/>
            <a:chOff x="-1142297" y="-551271"/>
            <a:chExt cx="4683039" cy="4153309"/>
          </a:xfrm>
        </p:grpSpPr>
        <p:sp>
          <p:nvSpPr>
            <p:cNvPr id="4" name="椭圆 3"/>
            <p:cNvSpPr/>
            <p:nvPr userDrawn="1"/>
          </p:nvSpPr>
          <p:spPr>
            <a:xfrm>
              <a:off x="-1142297" y="-550554"/>
              <a:ext cx="1013321" cy="1013321"/>
            </a:xfrm>
            <a:prstGeom prst="ellipse">
              <a:avLst/>
            </a:prstGeom>
            <a:solidFill>
              <a:srgbClr val="7784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5" name="椭圆 4"/>
            <p:cNvSpPr/>
            <p:nvPr userDrawn="1"/>
          </p:nvSpPr>
          <p:spPr>
            <a:xfrm>
              <a:off x="1599155" y="-551271"/>
              <a:ext cx="1941587" cy="1941586"/>
            </a:xfrm>
            <a:prstGeom prst="ellipse">
              <a:avLst/>
            </a:prstGeom>
            <a:solidFill>
              <a:srgbClr val="5E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sp>
          <p:nvSpPr>
            <p:cNvPr id="6" name="椭圆 5"/>
            <p:cNvSpPr/>
            <p:nvPr userDrawn="1"/>
          </p:nvSpPr>
          <p:spPr>
            <a:xfrm>
              <a:off x="-801095" y="-224528"/>
              <a:ext cx="3826566" cy="3826566"/>
            </a:xfrm>
            <a:prstGeom prst="ellipse">
              <a:avLst/>
            </a:prstGeom>
            <a:solidFill>
              <a:srgbClr val="5B9BD5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</p:grpSp>
      <p:sp>
        <p:nvSpPr>
          <p:cNvPr id="7" name="任意多边形 6"/>
          <p:cNvSpPr/>
          <p:nvPr userDrawn="1"/>
        </p:nvSpPr>
        <p:spPr>
          <a:xfrm flipH="1">
            <a:off x="0" y="6013525"/>
            <a:ext cx="12192000" cy="844475"/>
          </a:xfrm>
          <a:custGeom>
            <a:avLst/>
            <a:gdLst>
              <a:gd name="connsiteX0" fmla="*/ 0 w 12192000"/>
              <a:gd name="connsiteY0" fmla="*/ 0 h 844475"/>
              <a:gd name="connsiteX1" fmla="*/ 0 w 12192000"/>
              <a:gd name="connsiteY1" fmla="*/ 844475 h 844475"/>
              <a:gd name="connsiteX2" fmla="*/ 12192000 w 12192000"/>
              <a:gd name="connsiteY2" fmla="*/ 844475 h 844475"/>
              <a:gd name="connsiteX3" fmla="*/ 12192000 w 12192000"/>
              <a:gd name="connsiteY3" fmla="*/ 613899 h 844475"/>
              <a:gd name="connsiteX4" fmla="*/ 12174634 w 12192000"/>
              <a:gd name="connsiteY4" fmla="*/ 611626 h 844475"/>
              <a:gd name="connsiteX5" fmla="*/ 383614 w 12192000"/>
              <a:gd name="connsiteY5" fmla="*/ 998 h 844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844475">
                <a:moveTo>
                  <a:pt x="0" y="0"/>
                </a:moveTo>
                <a:lnTo>
                  <a:pt x="0" y="844475"/>
                </a:lnTo>
                <a:lnTo>
                  <a:pt x="12192000" y="844475"/>
                </a:lnTo>
                <a:lnTo>
                  <a:pt x="12192000" y="613899"/>
                </a:lnTo>
                <a:lnTo>
                  <a:pt x="12174634" y="611626"/>
                </a:lnTo>
                <a:cubicBezTo>
                  <a:pt x="9338572" y="258154"/>
                  <a:pt x="5127457" y="25732"/>
                  <a:pt x="383614" y="998"/>
                </a:cubicBezTo>
                <a:close/>
              </a:path>
            </a:pathLst>
          </a:custGeom>
          <a:solidFill>
            <a:srgbClr val="778495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宋体 CN" panose="02020400000000000000" pitchFamily="18" charset="-122"/>
              <a:ea typeface="思源宋体 CN" panose="020204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2F7D6-0255-4B7F-BFC1-92D773B956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20EB1-3F04-4F07-A616-4842E766E50F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片占位符 16"/>
          <p:cNvSpPr>
            <a:spLocks noGrp="1"/>
          </p:cNvSpPr>
          <p:nvPr>
            <p:ph type="pic" sz="quarter" idx="13"/>
          </p:nvPr>
        </p:nvSpPr>
        <p:spPr>
          <a:xfrm>
            <a:off x="10038728" y="2104200"/>
            <a:ext cx="1261876" cy="1261876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956679" y="2104200"/>
            <a:ext cx="1261876" cy="1261876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1"/>
          </p:nvPr>
        </p:nvSpPr>
        <p:spPr>
          <a:xfrm>
            <a:off x="3909764" y="2104200"/>
            <a:ext cx="1261876" cy="1261876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0"/>
          </p:nvPr>
        </p:nvSpPr>
        <p:spPr>
          <a:xfrm>
            <a:off x="854003" y="2104200"/>
            <a:ext cx="1261876" cy="1261876"/>
          </a:xfrm>
          <a:prstGeom prst="ellipse">
            <a:avLst/>
          </a:pr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F9E761F9-7215-4FED-AEBE-F6BD0BB95233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763A223D-0845-4D2E-B39F-A1BF384897D7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8BD76A78-1352-48A0-8493-7530DA9D6900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思源宋体 CN" panose="02020400000000000000" pitchFamily="18" charset="-122"/>
                <a:ea typeface="思源宋体 CN" panose="02020400000000000000" pitchFamily="18" charset="-122"/>
              </a:defRPr>
            </a:lvl1pPr>
          </a:lstStyle>
          <a:p>
            <a:fld id="{A6E6C4B2-7AAE-4B78-97D5-3931AD33BE16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C0B3"/>
            </a:gs>
            <a:gs pos="62000">
              <a:srgbClr val="02A56C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_3"/>
          <p:cNvSpPr/>
          <p:nvPr/>
        </p:nvSpPr>
        <p:spPr>
          <a:xfrm>
            <a:off x="1303738" y="1148894"/>
            <a:ext cx="7770495" cy="207645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8500" b="1" dirty="0">
                <a:solidFill>
                  <a:schemeClr val="bg1"/>
                </a:solidFill>
                <a:effectLst>
                  <a:glow>
                    <a:prstClr val="white"/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供应链二部周报</a:t>
            </a:r>
            <a:br>
              <a:rPr lang="en-US" altLang="zh-CN" sz="8500" b="1" dirty="0">
                <a:solidFill>
                  <a:schemeClr val="bg1"/>
                </a:solidFill>
                <a:effectLst>
                  <a:glow>
                    <a:prstClr val="white"/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</a:br>
            <a:r>
              <a:rPr lang="en-US" altLang="zh-CN" sz="4400" b="1" dirty="0">
                <a:solidFill>
                  <a:schemeClr val="bg1"/>
                </a:solidFill>
                <a:effectLst>
                  <a:glow>
                    <a:prstClr val="white"/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--</a:t>
            </a:r>
            <a:r>
              <a:rPr lang="zh-CN" altLang="en-US" sz="4400" b="1" dirty="0">
                <a:solidFill>
                  <a:schemeClr val="bg1"/>
                </a:solidFill>
                <a:effectLst>
                  <a:glow>
                    <a:prstClr val="white"/>
                  </a:glow>
                </a:effectLst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居家布艺</a:t>
            </a:r>
            <a:endParaRPr lang="zh-CN" altLang="en-US" sz="4400" b="1" dirty="0">
              <a:solidFill>
                <a:schemeClr val="bg1"/>
              </a:solidFill>
              <a:effectLst>
                <a:glow>
                  <a:prstClr val="white"/>
                </a:glow>
              </a:effectLst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525906" y="4074795"/>
            <a:ext cx="5285104" cy="431800"/>
            <a:chOff x="4076401" y="2512993"/>
            <a:chExt cx="4197610" cy="432000"/>
          </a:xfrm>
        </p:grpSpPr>
        <p:sp>
          <p:nvSpPr>
            <p:cNvPr id="23" name="Rectangle: Rounded Corners 16"/>
            <p:cNvSpPr/>
            <p:nvPr/>
          </p:nvSpPr>
          <p:spPr>
            <a:xfrm>
              <a:off x="4076401" y="2512993"/>
              <a:ext cx="1836000" cy="432000"/>
            </a:xfrm>
            <a:prstGeom prst="roundRect">
              <a:avLst>
                <a:gd name="adj" fmla="val 50000"/>
              </a:avLst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schemeClr val="bg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  <a:sym typeface="思源宋体 CN" panose="02020400000000000000" pitchFamily="18" charset="-122"/>
                </a:rPr>
                <a:t>汇报人：王凡</a:t>
              </a:r>
              <a:endParaRPr lang="zh-CN" altLang="en-US" b="1" kern="0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  <a:sym typeface="思源宋体 CN" panose="02020400000000000000" pitchFamily="18" charset="-122"/>
              </a:endParaRPr>
            </a:p>
          </p:txBody>
        </p:sp>
        <p:sp>
          <p:nvSpPr>
            <p:cNvPr id="31" name="Rectangle: Rounded Corners 16"/>
            <p:cNvSpPr/>
            <p:nvPr/>
          </p:nvSpPr>
          <p:spPr>
            <a:xfrm>
              <a:off x="6438011" y="2512993"/>
              <a:ext cx="1836000" cy="432000"/>
            </a:xfrm>
            <a:prstGeom prst="roundRect">
              <a:avLst>
                <a:gd name="adj" fmla="val 50000"/>
              </a:avLst>
            </a:prstGeom>
            <a:no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zh-CN" altLang="en-US" b="1" kern="0" dirty="0">
                  <a:solidFill>
                    <a:schemeClr val="bg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  <a:sym typeface="思源宋体 CN" panose="02020400000000000000" pitchFamily="18" charset="-122"/>
                </a:rPr>
                <a:t>日期：</a:t>
              </a:r>
              <a:r>
                <a:rPr lang="en-US" altLang="zh-CN" b="1" kern="0" dirty="0">
                  <a:solidFill>
                    <a:schemeClr val="bg1"/>
                  </a:solidFill>
                  <a:latin typeface="思源宋体 CN" panose="02020400000000000000" pitchFamily="18" charset="-122"/>
                  <a:ea typeface="思源宋体 CN" panose="02020400000000000000" pitchFamily="18" charset="-122"/>
                  <a:sym typeface="思源宋体 CN" panose="02020400000000000000" pitchFamily="18" charset="-122"/>
                </a:rPr>
                <a:t>2026.7.10</a:t>
              </a:r>
              <a:endParaRPr lang="en-US" altLang="zh-CN" b="1" kern="0" dirty="0">
                <a:solidFill>
                  <a:schemeClr val="bg1"/>
                </a:solidFill>
                <a:latin typeface="思源宋体 CN" panose="02020400000000000000" pitchFamily="18" charset="-122"/>
                <a:ea typeface="思源宋体 CN" panose="02020400000000000000" pitchFamily="18" charset="-122"/>
                <a:sym typeface="思源宋体 CN" panose="02020400000000000000" pitchFamily="18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9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9"/>
          <p:cNvSpPr txBox="1"/>
          <p:nvPr/>
        </p:nvSpPr>
        <p:spPr>
          <a:xfrm>
            <a:off x="5270501" y="815190"/>
            <a:ext cx="1713230" cy="10147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6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目录</a:t>
            </a:r>
            <a:endParaRPr lang="zh-CN" altLang="en-US" sz="6000" b="1" dirty="0">
              <a:solidFill>
                <a:schemeClr val="tx1">
                  <a:lumMod val="65000"/>
                  <a:lumOff val="3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34" name="组合 33"/>
          <p:cNvGrpSpPr/>
          <p:nvPr>
            <p:custDataLst>
              <p:tags r:id="rId2"/>
            </p:custDataLst>
          </p:nvPr>
        </p:nvGrpSpPr>
        <p:grpSpPr>
          <a:xfrm rot="0">
            <a:off x="1971675" y="2896235"/>
            <a:ext cx="2084070" cy="2199005"/>
            <a:chOff x="922945" y="2547912"/>
            <a:chExt cx="2344530" cy="2586063"/>
          </a:xfrm>
        </p:grpSpPr>
        <p:sp>
          <p:nvSpPr>
            <p:cNvPr id="35" name="矩形: 对角圆角 34"/>
            <p:cNvSpPr/>
            <p:nvPr>
              <p:custDataLst>
                <p:tags r:id="rId3"/>
              </p:custDataLst>
            </p:nvPr>
          </p:nvSpPr>
          <p:spPr>
            <a:xfrm>
              <a:off x="922945" y="2547912"/>
              <a:ext cx="2344530" cy="2586063"/>
            </a:xfrm>
            <a:prstGeom prst="round2DiagRect">
              <a:avLst>
                <a:gd name="adj1" fmla="val 17053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1689026" y="2891386"/>
              <a:ext cx="956528" cy="971547"/>
              <a:chOff x="5974576" y="1406371"/>
              <a:chExt cx="1702609" cy="1729343"/>
            </a:xfrm>
          </p:grpSpPr>
          <p:sp>
            <p:nvSpPr>
              <p:cNvPr id="38" name="椭圆 37"/>
              <p:cNvSpPr/>
              <p:nvPr>
                <p:custDataLst>
                  <p:tags r:id="rId4"/>
                </p:custDataLst>
              </p:nvPr>
            </p:nvSpPr>
            <p:spPr>
              <a:xfrm>
                <a:off x="5974576" y="1406371"/>
                <a:ext cx="1702609" cy="1729343"/>
              </a:xfrm>
              <a:prstGeom prst="ellipse">
                <a:avLst/>
              </a:prstGeom>
              <a:gradFill>
                <a:gsLst>
                  <a:gs pos="3000">
                    <a:srgbClr val="2DC0B3"/>
                  </a:gs>
                  <a:gs pos="95000">
                    <a:srgbClr val="02A56C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000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108627" y="1561893"/>
                <a:ext cx="1458103" cy="1479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cs"/>
                  </a:rPr>
                  <a:t>1</a:t>
                </a:r>
                <a:endPara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endParaRPr>
              </a:p>
            </p:txBody>
          </p:sp>
        </p:grpSp>
        <p:sp>
          <p:nvSpPr>
            <p:cNvPr id="37" name="Rectangle 1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84582" y="4087750"/>
              <a:ext cx="1862009" cy="468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" panose="02020400000000000000" pitchFamily="18" charset="-122"/>
                  <a:sym typeface="+mn-lt"/>
                </a:rPr>
                <a:t>销售表现</a:t>
              </a:r>
              <a:endParaRPr kumimoji="0" 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sym typeface="+mn-lt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7"/>
            </p:custDataLst>
          </p:nvPr>
        </p:nvGrpSpPr>
        <p:grpSpPr>
          <a:xfrm rot="0">
            <a:off x="5026660" y="2895600"/>
            <a:ext cx="2032635" cy="2199005"/>
            <a:chOff x="1164580" y="2547912"/>
            <a:chExt cx="2470958" cy="2586063"/>
          </a:xfrm>
        </p:grpSpPr>
        <p:sp>
          <p:nvSpPr>
            <p:cNvPr id="66" name="矩形: 对角圆角 65"/>
            <p:cNvSpPr/>
            <p:nvPr>
              <p:custDataLst>
                <p:tags r:id="rId8"/>
              </p:custDataLst>
            </p:nvPr>
          </p:nvSpPr>
          <p:spPr>
            <a:xfrm>
              <a:off x="1164580" y="2547912"/>
              <a:ext cx="2470958" cy="2586063"/>
            </a:xfrm>
            <a:prstGeom prst="round2DiagRect">
              <a:avLst>
                <a:gd name="adj1" fmla="val 17053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grpSp>
          <p:nvGrpSpPr>
            <p:cNvPr id="67" name="组合 66"/>
            <p:cNvGrpSpPr/>
            <p:nvPr/>
          </p:nvGrpSpPr>
          <p:grpSpPr>
            <a:xfrm>
              <a:off x="1914224" y="2891386"/>
              <a:ext cx="1015864" cy="971547"/>
              <a:chOff x="6375426" y="1406371"/>
              <a:chExt cx="1808226" cy="1729343"/>
            </a:xfrm>
          </p:grpSpPr>
          <p:sp>
            <p:nvSpPr>
              <p:cNvPr id="69" name="椭圆 68"/>
              <p:cNvSpPr/>
              <p:nvPr>
                <p:custDataLst>
                  <p:tags r:id="rId9"/>
                </p:custDataLst>
              </p:nvPr>
            </p:nvSpPr>
            <p:spPr>
              <a:xfrm>
                <a:off x="6375426" y="1406371"/>
                <a:ext cx="1808226" cy="1729343"/>
              </a:xfrm>
              <a:prstGeom prst="ellipse">
                <a:avLst/>
              </a:prstGeom>
              <a:gradFill>
                <a:gsLst>
                  <a:gs pos="3000">
                    <a:srgbClr val="2DC0B3"/>
                  </a:gs>
                  <a:gs pos="95000">
                    <a:srgbClr val="02A56C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000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70" name="文本框 69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514204" y="1563222"/>
                <a:ext cx="1501817" cy="1479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cs"/>
                  </a:rPr>
                  <a:t>2</a:t>
                </a:r>
                <a:endPara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endParaRPr>
              </a:p>
            </p:txBody>
          </p:sp>
        </p:grpSp>
        <p:sp>
          <p:nvSpPr>
            <p:cNvPr id="68" name="Rectangle 11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164580" y="3994949"/>
              <a:ext cx="2470958" cy="468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sym typeface="+mn-lt"/>
              </a:endParaRPr>
            </a:p>
          </p:txBody>
        </p:sp>
      </p:grpSp>
      <p:grpSp>
        <p:nvGrpSpPr>
          <p:cNvPr id="71" name="组合 70"/>
          <p:cNvGrpSpPr/>
          <p:nvPr>
            <p:custDataLst>
              <p:tags r:id="rId12"/>
            </p:custDataLst>
          </p:nvPr>
        </p:nvGrpSpPr>
        <p:grpSpPr>
          <a:xfrm rot="0">
            <a:off x="7952740" y="2896870"/>
            <a:ext cx="2158365" cy="2198370"/>
            <a:chOff x="1164580" y="2547912"/>
            <a:chExt cx="2563033" cy="2586063"/>
          </a:xfrm>
        </p:grpSpPr>
        <p:sp>
          <p:nvSpPr>
            <p:cNvPr id="72" name="矩形: 对角圆角 71"/>
            <p:cNvSpPr/>
            <p:nvPr>
              <p:custDataLst>
                <p:tags r:id="rId13"/>
              </p:custDataLst>
            </p:nvPr>
          </p:nvSpPr>
          <p:spPr>
            <a:xfrm>
              <a:off x="1256655" y="2547912"/>
              <a:ext cx="2470958" cy="2586063"/>
            </a:xfrm>
            <a:prstGeom prst="round2DiagRect">
              <a:avLst>
                <a:gd name="adj1" fmla="val 17053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宋体 CN" panose="02020400000000000000" pitchFamily="18" charset="-122"/>
                <a:ea typeface="思源宋体 CN" panose="02020400000000000000" pitchFamily="18" charset="-122"/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1914224" y="2891386"/>
              <a:ext cx="971671" cy="971671"/>
              <a:chOff x="6375426" y="1406371"/>
              <a:chExt cx="1729563" cy="1729563"/>
            </a:xfrm>
          </p:grpSpPr>
          <p:sp>
            <p:nvSpPr>
              <p:cNvPr id="75" name="椭圆 74"/>
              <p:cNvSpPr/>
              <p:nvPr>
                <p:custDataLst>
                  <p:tags r:id="rId14"/>
                </p:custDataLst>
              </p:nvPr>
            </p:nvSpPr>
            <p:spPr>
              <a:xfrm>
                <a:off x="6375426" y="1406371"/>
                <a:ext cx="1729563" cy="1729563"/>
              </a:xfrm>
              <a:prstGeom prst="ellipse">
                <a:avLst/>
              </a:prstGeom>
              <a:gradFill>
                <a:gsLst>
                  <a:gs pos="3000">
                    <a:srgbClr val="2DC0B3"/>
                  </a:gs>
                  <a:gs pos="95000">
                    <a:srgbClr val="02A56C"/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000" dirty="0">
                  <a:solidFill>
                    <a:prstClr val="white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endParaRPr>
              </a:p>
            </p:txBody>
          </p:sp>
          <p:sp>
            <p:nvSpPr>
              <p:cNvPr id="76" name="文本框 75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537281" y="1561360"/>
                <a:ext cx="1502492" cy="1479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 Heavy" panose="02020900000000000000" pitchFamily="18" charset="-122"/>
                    <a:ea typeface="思源宋体 CN Heavy" panose="02020900000000000000" pitchFamily="18" charset="-122"/>
                    <a:cs typeface="+mn-cs"/>
                  </a:rPr>
                  <a:t>3</a:t>
                </a:r>
                <a:endParaRPr kumimoji="0" lang="en-US" altLang="zh-CN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endParaRPr>
              </a:p>
            </p:txBody>
          </p:sp>
        </p:grpSp>
        <p:sp>
          <p:nvSpPr>
            <p:cNvPr id="74" name="Rectangle 1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164580" y="3994949"/>
              <a:ext cx="2470958" cy="469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等线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sz="20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sym typeface="+mn-lt"/>
              </a:endParaRPr>
            </a:p>
          </p:txBody>
        </p:sp>
      </p:grpSp>
      <p:sp>
        <p:nvSpPr>
          <p:cNvPr id="6" name="Rectangle 11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257540" y="4205605"/>
            <a:ext cx="165544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000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sym typeface="+mn-lt"/>
              </a:rPr>
              <a:t>下周规划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sym typeface="+mn-lt"/>
            </a:endParaRPr>
          </a:p>
        </p:txBody>
      </p:sp>
      <p:sp>
        <p:nvSpPr>
          <p:cNvPr id="17" name="文本框 16"/>
          <p:cNvSpPr txBox="1"/>
          <p:nvPr>
            <p:custDataLst>
              <p:tags r:id="rId18"/>
            </p:custDataLst>
          </p:nvPr>
        </p:nvSpPr>
        <p:spPr>
          <a:xfrm>
            <a:off x="5411470" y="4205605"/>
            <a:ext cx="14903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sym typeface="+mn-lt"/>
              </a:rPr>
              <a:t>采购情况</a:t>
            </a:r>
            <a:endParaRPr lang="zh-CN" altLang="en-US" sz="2000" kern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卡通人物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9690"/>
            <a:ext cx="12192000" cy="6858000"/>
          </a:xfrm>
          <a:prstGeom prst="rect">
            <a:avLst/>
          </a:prstGeom>
          <a:solidFill>
            <a:srgbClr val="54CCC2"/>
          </a:solidFill>
        </p:spPr>
      </p:pic>
      <p:grpSp>
        <p:nvGrpSpPr>
          <p:cNvPr id="12" name="组合 11"/>
          <p:cNvGrpSpPr/>
          <p:nvPr/>
        </p:nvGrpSpPr>
        <p:grpSpPr>
          <a:xfrm>
            <a:off x="3213469" y="1699437"/>
            <a:ext cx="1729563" cy="1729563"/>
            <a:chOff x="6375426" y="1406371"/>
            <a:chExt cx="1729563" cy="1729563"/>
          </a:xfrm>
        </p:grpSpPr>
        <p:sp>
          <p:nvSpPr>
            <p:cNvPr id="13" name="椭圆 12"/>
            <p:cNvSpPr/>
            <p:nvPr/>
          </p:nvSpPr>
          <p:spPr>
            <a:xfrm>
              <a:off x="6375426" y="1406371"/>
              <a:ext cx="1729563" cy="1729563"/>
            </a:xfrm>
            <a:prstGeom prst="ellipse">
              <a:avLst/>
            </a:prstGeom>
            <a:gradFill>
              <a:gsLst>
                <a:gs pos="3000">
                  <a:srgbClr val="2DC0B3"/>
                </a:gs>
                <a:gs pos="95000">
                  <a:srgbClr val="02A56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7200" dirty="0">
                <a:solidFill>
                  <a:prstClr val="white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488962" y="1670988"/>
              <a:ext cx="1502491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01</a:t>
              </a:r>
              <a:endParaRPr kumimoji="0" lang="zh-CN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</p:grpSp>
      <p:sp>
        <p:nvSpPr>
          <p:cNvPr id="15" name="TextBox 11"/>
          <p:cNvSpPr txBox="1"/>
          <p:nvPr/>
        </p:nvSpPr>
        <p:spPr>
          <a:xfrm>
            <a:off x="2768057" y="3774942"/>
            <a:ext cx="2621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销售表现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8395" y="95250"/>
            <a:ext cx="180911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销售表现</a:t>
            </a:r>
            <a:endParaRPr kumimoji="0" 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605407" y="9418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60140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1499870" y="769620"/>
            <a:ext cx="1860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760095" y="3213735"/>
            <a:ext cx="4438015" cy="3369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本周概况：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本周销售金额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172.67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万元，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销售毛利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86.5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万元，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毛利率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50.1%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较上周：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销售额上升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30.94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万元，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销售毛利上升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15.45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万元，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毛利率下降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0.03%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110" y="3300730"/>
            <a:ext cx="5615940" cy="32943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55" y="1026160"/>
            <a:ext cx="10332085" cy="162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28395" y="95250"/>
            <a:ext cx="319722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销售表现-每日销售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605407" y="9418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60140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245" y="664845"/>
            <a:ext cx="11461115" cy="586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6185" y="95250"/>
            <a:ext cx="335915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销售表现-品牌分析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605407" y="9418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60140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1499870" y="769620"/>
            <a:ext cx="1860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605155" y="1012825"/>
            <a:ext cx="10472420" cy="1262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猫人：</a:t>
            </a:r>
            <a:r>
              <a:rPr lang="en-US" altLang="zh-CN" sz="2400"/>
              <a:t>7.3-7.9</a:t>
            </a:r>
            <a:r>
              <a:rPr lang="zh-CN" altLang="en-US" sz="2400"/>
              <a:t>销售额</a:t>
            </a:r>
            <a:r>
              <a:rPr lang="en-US" altLang="zh-CN" sz="2400"/>
              <a:t>96.86</a:t>
            </a:r>
            <a:r>
              <a:rPr lang="zh-CN" altLang="en-US" sz="2400"/>
              <a:t>万元，销售数量</a:t>
            </a:r>
            <a:r>
              <a:rPr lang="en-US" altLang="zh-CN" sz="2400"/>
              <a:t>10408</a:t>
            </a:r>
            <a:r>
              <a:rPr lang="zh-CN" altLang="en-US" sz="2400"/>
              <a:t>件，毛利率</a:t>
            </a:r>
            <a:r>
              <a:rPr lang="en-US" altLang="zh-CN" sz="2400"/>
              <a:t>48.51%</a:t>
            </a:r>
            <a:r>
              <a:rPr lang="zh-CN" altLang="en-US" sz="2400"/>
              <a:t>；</a:t>
            </a:r>
            <a:br>
              <a:rPr lang="en-US" altLang="zh-CN" sz="2400"/>
            </a:br>
            <a:r>
              <a:rPr lang="zh-CN" altLang="en-US" sz="2400"/>
              <a:t>初医生：</a:t>
            </a:r>
            <a:r>
              <a:rPr lang="en-US" altLang="zh-CN" sz="2400"/>
              <a:t>7.3-7.9</a:t>
            </a:r>
            <a:r>
              <a:rPr lang="zh-CN" altLang="en-US" sz="2400"/>
              <a:t>销售额</a:t>
            </a:r>
            <a:r>
              <a:rPr lang="en-US" altLang="zh-CN" sz="2400"/>
              <a:t>75.8</a:t>
            </a:r>
            <a:r>
              <a:rPr lang="zh-CN" altLang="en-US" sz="2400"/>
              <a:t>万元，销售数量</a:t>
            </a:r>
            <a:r>
              <a:rPr lang="en-US" altLang="zh-CN" sz="2400"/>
              <a:t>8575</a:t>
            </a:r>
            <a:r>
              <a:rPr lang="zh-CN" altLang="en-US" sz="2400"/>
              <a:t>件，毛利率</a:t>
            </a:r>
            <a:r>
              <a:rPr lang="en-US" altLang="zh-CN" sz="2400"/>
              <a:t>52.12%</a:t>
            </a:r>
            <a:r>
              <a:rPr lang="zh-CN" altLang="en-US" sz="2400"/>
              <a:t>；</a:t>
            </a:r>
            <a:br>
              <a:rPr lang="zh-CN" altLang="en-US" sz="2400"/>
            </a:br>
            <a:r>
              <a:rPr lang="zh-CN" altLang="en-US" sz="2400"/>
              <a:t>综合：初医生毛利率</a:t>
            </a:r>
            <a:r>
              <a:rPr lang="zh-CN" altLang="en-US" sz="2400"/>
              <a:t>高于猫人。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60" y="2275205"/>
            <a:ext cx="9491345" cy="4377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63015" y="95250"/>
            <a:ext cx="344678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销售表现-品牌分析</a:t>
            </a:r>
            <a:endParaRPr kumimoji="0" 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605407" y="9418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60140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1499870" y="769620"/>
            <a:ext cx="1860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1361440" y="1621155"/>
            <a:ext cx="4914265" cy="32048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spcBef>
                <a:spcPts val="1000"/>
              </a:spcBef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本周销售总额：172.67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万元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spcBef>
                <a:spcPts val="1000"/>
              </a:spcBef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猫人：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96.86万元，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占本周总销售额的56%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spcBef>
                <a:spcPts val="1000"/>
              </a:spcBef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初医生：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75.8万元，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占本周总销售额的44%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spcBef>
                <a:spcPts val="1000"/>
              </a:spcBef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初医生与猫人销售额差距逐步拉小。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2275" y="971550"/>
            <a:ext cx="6153150" cy="5491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0420" y="95250"/>
            <a:ext cx="3375025" cy="454660"/>
          </a:xfrm>
          <a:prstGeom prst="rect">
            <a:avLst/>
          </a:prstGeom>
        </p:spPr>
        <p:txBody>
          <a:bodyPr wrap="square">
            <a:noAutofit/>
          </a:bodyPr>
          <a:p>
            <a:pPr marL="0"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销售表现-店铺分析</a:t>
            </a:r>
            <a:endParaRPr kumimoji="0" 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237107" y="9545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92475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1499870" y="769620"/>
            <a:ext cx="1860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155" y="692150"/>
            <a:ext cx="11327130" cy="5808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0095" y="95250"/>
            <a:ext cx="333057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微软雅黑" panose="020B0503020204020204" charset="-122"/>
                <a:sym typeface="+mn-lt"/>
              </a:rPr>
              <a:t>销售表现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微软雅黑" panose="020B0503020204020204" charset="-122"/>
                <a:sym typeface="+mn-lt"/>
              </a:rPr>
              <a:t>-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宋体" panose="02010600030101010101" pitchFamily="2" charset="-122"/>
                <a:cs typeface="微软雅黑" panose="020B0503020204020204" charset="-122"/>
                <a:sym typeface="+mn-lt"/>
              </a:rPr>
              <a:t>平台分析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237107" y="9545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92475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1499870" y="769620"/>
            <a:ext cx="1860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155" y="769620"/>
            <a:ext cx="10782935" cy="58000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0470" y="93980"/>
            <a:ext cx="341185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销售表现-产品分析</a:t>
            </a:r>
            <a:endParaRPr kumimoji="0" 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605407" y="9418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60140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1499870" y="769620"/>
            <a:ext cx="1860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1066165" y="671195"/>
            <a:ext cx="10039985" cy="1234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850" y="617220"/>
            <a:ext cx="10938510" cy="6063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0095" y="95250"/>
            <a:ext cx="368935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销售表现-供应商分析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宋体" panose="02010600030101010101" pitchFamily="2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237107" y="9545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92475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1499870" y="769620"/>
            <a:ext cx="1860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zh-CN" altLang="en-US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785" y="769620"/>
            <a:ext cx="10279380" cy="5803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卡通人物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" y="-89535"/>
            <a:ext cx="12192000" cy="6858000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3213469" y="1699437"/>
            <a:ext cx="1729563" cy="1729563"/>
            <a:chOff x="6375426" y="1406371"/>
            <a:chExt cx="1729563" cy="1729563"/>
          </a:xfrm>
        </p:grpSpPr>
        <p:sp>
          <p:nvSpPr>
            <p:cNvPr id="35" name="椭圆 34"/>
            <p:cNvSpPr/>
            <p:nvPr/>
          </p:nvSpPr>
          <p:spPr>
            <a:xfrm>
              <a:off x="6375426" y="1406371"/>
              <a:ext cx="1729563" cy="1729563"/>
            </a:xfrm>
            <a:prstGeom prst="ellipse">
              <a:avLst/>
            </a:prstGeom>
            <a:gradFill>
              <a:gsLst>
                <a:gs pos="3000">
                  <a:srgbClr val="2DC0B3"/>
                </a:gs>
                <a:gs pos="95000">
                  <a:srgbClr val="02A56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488962" y="1670988"/>
              <a:ext cx="1502491" cy="119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02</a:t>
              </a:r>
              <a:endParaRPr kumimoji="0" lang="zh-CN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</p:grpSp>
      <p:sp>
        <p:nvSpPr>
          <p:cNvPr id="37" name="TextBox 11"/>
          <p:cNvSpPr txBox="1"/>
          <p:nvPr/>
        </p:nvSpPr>
        <p:spPr>
          <a:xfrm>
            <a:off x="607695" y="3555365"/>
            <a:ext cx="70250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800" b="1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lt"/>
              </a:rPr>
              <a:t>采购情况</a:t>
            </a:r>
            <a:endParaRPr lang="zh-CN" altLang="en-US" sz="4800" b="1" kern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  <p:sp>
        <p:nvSpPr>
          <p:cNvPr id="38" name="TextBox 36"/>
          <p:cNvSpPr txBox="1"/>
          <p:nvPr/>
        </p:nvSpPr>
        <p:spPr>
          <a:xfrm>
            <a:off x="1321162" y="4189848"/>
            <a:ext cx="5597621" cy="360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rPr>
              <a:t>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37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63015" y="95250"/>
            <a:ext cx="806831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采购情况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605407" y="9418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60140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1499870" y="769620"/>
            <a:ext cx="1860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b="1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54405" y="941070"/>
          <a:ext cx="11572875" cy="4759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425"/>
                <a:gridCol w="1166495"/>
                <a:gridCol w="6120130"/>
                <a:gridCol w="854710"/>
                <a:gridCol w="1039495"/>
              </a:tblGrid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事项内容</a:t>
                      </a:r>
                      <a:endParaRPr lang="zh-CN" altLang="en-US" sz="12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进度及责任人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1331595">
                <a:tc>
                  <a:txBody>
                    <a:bodyPr/>
                    <a:lstStyle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京东自营及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猫超产品入库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、恒然京东入库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、眠语京东入库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、美力城京东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入库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4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、美力城猫超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入仓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 defTabSz="914400" rtl="0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 defTabSz="914400" rtl="0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algn="ctr" defTabSz="914400" rtl="0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endParaRPr lang="en-US" altLang="zh-CN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 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日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15830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月账目核对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记忆眠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月货款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核对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、乐兜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月货款核对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、眠语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月货款核对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4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、富苏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月货款核对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5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、永光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月货款核对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、昵迪及亿锦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货款核对</a:t>
                      </a:r>
                      <a:endParaRPr lang="en-US" altLang="zh-CN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955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海纳百川系统录入产品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根据系统要求录入居家布艺产品信息持续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更新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63015" y="95250"/>
            <a:ext cx="806831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采购情况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605407" y="9418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60140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1499870" y="769620"/>
            <a:ext cx="1860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b="1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54405" y="941070"/>
          <a:ext cx="9905365" cy="5202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00"/>
                <a:gridCol w="1321435"/>
                <a:gridCol w="5974715"/>
                <a:gridCol w="854710"/>
                <a:gridCol w="1284605"/>
              </a:tblGrid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事项内容</a:t>
                      </a:r>
                      <a:endParaRPr lang="zh-CN" altLang="en-US" sz="12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进度及责任人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56260"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60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品审信息修改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6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根据猫人品审要求，修改相关洗唛、检测报告等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已完成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15830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对接新货盘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、新增美力城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居家布艺货盘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、佳雷组合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编码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、眠语老品增加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款式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4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、永光海马枕新增大小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5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、森悦对接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聚水潭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、佳盛对接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货盘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、谷登路对接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新货盘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algn="l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algn="l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algn="l" defTabSz="914400" rtl="0" eaLnBrk="1" latinLnBrk="0" hangingPunct="1">
                        <a:buClrTx/>
                        <a:buSzTx/>
                        <a:buFontTx/>
                        <a:buNone/>
                      </a:pPr>
                      <a:endParaRPr lang="zh-CN" altLang="en-US" sz="12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962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整理样品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整理样品并拍照上传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素材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407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订单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处理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6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处理订单群里异常订单，并配合客服、运营提供相关产品资料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l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407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整理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整理午睡枕及坐垫数据以及工厂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产能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l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已完成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zh-CN" altLang="en-US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63015" y="95250"/>
            <a:ext cx="806831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采购情况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605407" y="9418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60140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 flipH="1">
            <a:off x="1499870" y="769620"/>
            <a:ext cx="186055" cy="437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b="1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954405" y="941070"/>
          <a:ext cx="9905365" cy="4696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00"/>
                <a:gridCol w="1321435"/>
                <a:gridCol w="5974715"/>
                <a:gridCol w="854710"/>
                <a:gridCol w="1284605"/>
              </a:tblGrid>
              <a:tr h="325755"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>
                          <a:latin typeface="微软雅黑" panose="020B0503020204020204" charset="-122"/>
                          <a:ea typeface="微软雅黑" panose="020B0503020204020204" charset="-122"/>
                        </a:rPr>
                        <a:t>事项内容</a:t>
                      </a:r>
                      <a:endParaRPr lang="zh-CN" altLang="en-US" sz="1200" b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进度及责任人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gradFill>
                      <a:gsLst>
                        <a:gs pos="0">
                          <a:srgbClr val="53639F"/>
                        </a:gs>
                        <a:gs pos="100000">
                          <a:srgbClr val="1D2E5A"/>
                        </a:gs>
                      </a:gsLst>
                      <a:lin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40000"/>
                        </a:lnSpc>
                        <a:buNone/>
                      </a:pPr>
                      <a:r>
                        <a:rPr lang="zh-CN" altLang="en-US" sz="1200" b="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altLang="en-US" sz="1200" b="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56260"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美力城项目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lstStyle/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、美力城产品编码根据产品部要求已建立，并录入聚水潭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、美力城亿锦、昵迪、姿璐、恩爱德等工厂熟悉，并了解其相关实物处理流程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、美姿一次性床品防伪标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采购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indent="0" algn="ctr" defTabSz="914400" rtl="0" fontAlgn="auto">
                        <a:lnSpc>
                          <a:spcPct val="16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已完成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8140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售后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整理售后所存在的问题，后期需要确认货损承担责任方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已完成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1041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11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产品辅料相关问题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、跟佳雷对接初医生包装，已安排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生产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继续完善各家合格证、洗唛、织唛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、善艺合格证修改，并安排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生产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已完成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1041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</a:t>
                      </a:r>
                      <a:r>
                        <a:rPr lang="zh-CN" altLang="en-US" sz="1200" dirty="0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endParaRPr lang="zh-CN" altLang="en-US" sz="1200" dirty="0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眠语问题解决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物流揽收，目前发货正常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、少部分产品跟不上发货，继续盯紧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工厂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indent="0" algn="l" fontAlgn="auto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、物流时效还是比较缓慢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buClrTx/>
                        <a:buSzTx/>
                        <a:buFontTx/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已完成</a:t>
                      </a:r>
                      <a:endParaRPr lang="zh-CN" altLang="en-US" sz="12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  7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</a:t>
                      </a:r>
                      <a:r>
                        <a:rPr lang="en-US" altLang="zh-CN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12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日</a:t>
                      </a:r>
                      <a:endParaRPr lang="en-US" altLang="zh-CN" sz="120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卡通人物&#10;&#10;中度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85" y="0"/>
            <a:ext cx="12192000" cy="6699885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3213469" y="1699437"/>
            <a:ext cx="1729563" cy="1729563"/>
            <a:chOff x="6375426" y="1406371"/>
            <a:chExt cx="1729563" cy="1729563"/>
          </a:xfrm>
        </p:grpSpPr>
        <p:sp>
          <p:nvSpPr>
            <p:cNvPr id="35" name="椭圆 34"/>
            <p:cNvSpPr/>
            <p:nvPr/>
          </p:nvSpPr>
          <p:spPr>
            <a:xfrm>
              <a:off x="6375426" y="1406371"/>
              <a:ext cx="1729563" cy="1729563"/>
            </a:xfrm>
            <a:prstGeom prst="ellipse">
              <a:avLst/>
            </a:prstGeom>
            <a:gradFill>
              <a:gsLst>
                <a:gs pos="3000">
                  <a:srgbClr val="2DC0B3"/>
                </a:gs>
                <a:gs pos="95000">
                  <a:srgbClr val="02A56C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6488962" y="1670988"/>
              <a:ext cx="1502491" cy="1198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7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cs"/>
                </a:rPr>
                <a:t>03</a:t>
              </a:r>
              <a:endParaRPr kumimoji="0" lang="zh-CN" altLang="en-US" sz="7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endParaRPr>
            </a:p>
          </p:txBody>
        </p:sp>
      </p:grpSp>
      <p:sp>
        <p:nvSpPr>
          <p:cNvPr id="37" name="TextBox 11"/>
          <p:cNvSpPr txBox="1"/>
          <p:nvPr/>
        </p:nvSpPr>
        <p:spPr>
          <a:xfrm>
            <a:off x="1012825" y="3743325"/>
            <a:ext cx="59588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4800" b="1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lt"/>
              </a:rPr>
              <a:t>下周规划</a:t>
            </a:r>
            <a:endParaRPr lang="zh-CN" sz="4800" b="1" kern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3010" y="95250"/>
            <a:ext cx="2353945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800" b="1" kern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下周工作规划</a:t>
            </a:r>
            <a:endParaRPr kumimoji="0" lang="zh-CN" sz="28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泪滴形 3"/>
          <p:cNvSpPr/>
          <p:nvPr/>
        </p:nvSpPr>
        <p:spPr>
          <a:xfrm>
            <a:off x="605407" y="94186"/>
            <a:ext cx="523221" cy="523220"/>
          </a:xfrm>
          <a:prstGeom prst="teardrop">
            <a:avLst/>
          </a:prstGeom>
          <a:gradFill>
            <a:gsLst>
              <a:gs pos="0">
                <a:srgbClr val="2DC0B3"/>
              </a:gs>
              <a:gs pos="62000">
                <a:srgbClr val="02A56C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60140" y="248919"/>
            <a:ext cx="212484" cy="2124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128395" y="802640"/>
          <a:ext cx="10550525" cy="5248275"/>
        </p:xfrm>
        <a:graphic>
          <a:graphicData uri="http://schemas.openxmlformats.org/drawingml/2006/table">
            <a:tbl>
              <a:tblPr/>
              <a:tblGrid>
                <a:gridCol w="1400810"/>
                <a:gridCol w="1877060"/>
                <a:gridCol w="1638935"/>
                <a:gridCol w="3846830"/>
                <a:gridCol w="1786890"/>
              </a:tblGrid>
              <a:tr h="5238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序号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事项内容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提出时间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次周预计完成节点名称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6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涉及部门</a:t>
                      </a:r>
                      <a:endParaRPr lang="zh-CN" altLang="en-US" sz="1600" b="1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DD7EE"/>
                    </a:solidFill>
                  </a:tcPr>
                </a:tc>
              </a:tr>
              <a:tr h="5238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售后货损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2026.7.10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跟工厂和运营确认货损责任方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供应链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&amp;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运营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&amp;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工厂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合格证水洗各家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完善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2026.7.10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优化各家水洗唛织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唛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供应链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海纳系统产品资料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提交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2026.7.10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海纳系统数据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继续完善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供应链</a:t>
                      </a:r>
                      <a:r>
                        <a:rPr lang="en-US" alt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&amp;IT</a:t>
                      </a:r>
                      <a:endParaRPr lang="en-US" altLang="zh-CN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销售分析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2026.7.10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根据销量及时调整</a:t>
                      </a:r>
                      <a:r>
                        <a:rPr lang="en-US" alt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618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备货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供应链</a:t>
                      </a:r>
                      <a:r>
                        <a:rPr lang="en-US" alt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&amp;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运营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核对账目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2026.7.10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月工厂账目核对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供应链</a:t>
                      </a:r>
                      <a:r>
                        <a:rPr lang="en-US" alt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&amp;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财务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眠语问题解决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2026.7.10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跟眠语解决物流时效等问题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供应链</a:t>
                      </a: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&amp;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工厂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货盘维护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2026.7.10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更新新品货盘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供应链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品审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2026.7.10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猫人品审完善剩余内容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供应链</a:t>
                      </a:r>
                      <a:endParaRPr lang="zh-CN" altLang="en-US" sz="11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38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美力城项目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2026.7.10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继续跟进美力城相关</a:t>
                      </a:r>
                      <a:r>
                        <a:rPr lang="zh-CN" alt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事项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供应链</a:t>
                      </a:r>
                      <a:endParaRPr lang="zh-CN" altLang="en-US" sz="11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2DC0B3"/>
            </a:gs>
            <a:gs pos="62000">
              <a:srgbClr val="02A56C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包含 游戏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896724" y="1964747"/>
            <a:ext cx="6450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宋体 CN" panose="02020400000000000000" pitchFamily="18" charset="-122"/>
                <a:ea typeface="思源宋体 CN" panose="02020400000000000000" pitchFamily="18" charset="-122"/>
                <a:cs typeface="+mn-cs"/>
              </a:rPr>
              <a:t>THANKS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宋体 CN" panose="02020400000000000000" pitchFamily="18" charset="-122"/>
              <a:ea typeface="思源宋体 CN" panose="02020400000000000000" pitchFamily="18" charset="-122"/>
              <a:cs typeface="+mn-cs"/>
            </a:endParaRPr>
          </a:p>
        </p:txBody>
      </p:sp>
      <p:sp>
        <p:nvSpPr>
          <p:cNvPr id="25" name="_3"/>
          <p:cNvSpPr/>
          <p:nvPr/>
        </p:nvSpPr>
        <p:spPr>
          <a:xfrm>
            <a:off x="769068" y="2204264"/>
            <a:ext cx="6724918" cy="1400383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cs"/>
              </a:rPr>
              <a:t>感谢您的观看</a:t>
            </a:r>
            <a:endParaRPr kumimoji="0" lang="zh-CN" altLang="en-US" sz="8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>
                  <a:prstClr val="white"/>
                </a:glow>
              </a:effectLst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6620" y="3863340"/>
            <a:ext cx="5843270" cy="64516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r>
              <a:rPr lang="zh-CN" altLang="en-US" sz="3600" b="1" noProof="0" dirty="0">
                <a:ln>
                  <a:noFill/>
                </a:ln>
                <a:solidFill>
                  <a:prstClr val="white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</a:rPr>
              <a:t>初心，务实，挑战更高目标</a:t>
            </a:r>
            <a:endParaRPr lang="zh-CN" altLang="en-US" sz="3600" b="1" noProof="0" dirty="0">
              <a:ln>
                <a:noFill/>
              </a:ln>
              <a:solidFill>
                <a:prstClr val="white"/>
              </a:solidFill>
              <a:effectLst>
                <a:glow>
                  <a:prstClr val="white"/>
                </a:glow>
              </a:effectLst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7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24" grpId="0"/>
      <p:bldP spid="25" grpId="0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10800,&quot;width&quot;:19200}"/>
</p:tagLst>
</file>

<file path=ppt/tags/tag2.xml><?xml version="1.0" encoding="utf-8"?>
<p:tagLst xmlns:p="http://schemas.openxmlformats.org/presentationml/2006/main">
  <p:tag name="KSO_WM_DIAGRAM_VIRTUALLY_FRAME" val="{&quot;height&quot;:403.4,&quot;left&quot;:40.3,&quot;top&quot;:124.5,&quot;width&quot;:876.9}"/>
</p:tagLst>
</file>

<file path=ppt/tags/tag3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4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5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6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7.xml><?xml version="1.0" encoding="utf-8"?>
<p:tagLst xmlns:p="http://schemas.openxmlformats.org/presentationml/2006/main">
  <p:tag name="KSO_WM_DIAGRAM_VIRTUALLY_FRAME" val="{&quot;height&quot;:403.4,&quot;left&quot;:40.3,&quot;top&quot;:124.5,&quot;width&quot;:876.9}"/>
</p:tagLst>
</file>

<file path=ppt/tags/tag8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9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10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11.xml><?xml version="1.0" encoding="utf-8"?>
<p:tagLst xmlns:p="http://schemas.openxmlformats.org/presentationml/2006/main">
  <p:tag name="KSO_WM_DIAGRAM_VIRTUALLY_FRAME" val="{&quot;height&quot;:390.1,&quot;left&quot;:40.3,&quot;top&quot;:124.5,&quot;width&quot;:876.9}"/>
</p:tagLst>
</file>

<file path=ppt/tags/tag12.xml><?xml version="1.0" encoding="utf-8"?>
<p:tagLst xmlns:p="http://schemas.openxmlformats.org/presentationml/2006/main">
  <p:tag name="KSO_WM_DIAGRAM_VIRTUALLY_FRAME" val="{&quot;height&quot;:403.4,&quot;left&quot;:40.3,&quot;top&quot;:124.5,&quot;width&quot;:876.9}"/>
</p:tagLst>
</file>

<file path=ppt/tags/tag13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14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15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16.xml><?xml version="1.0" encoding="utf-8"?>
<p:tagLst xmlns:p="http://schemas.openxmlformats.org/presentationml/2006/main">
  <p:tag name="KSO_WM_DIAGRAM_VIRTUALLY_FRAME" val="{&quot;height&quot;:390.1,&quot;left&quot;:40.3,&quot;top&quot;:124.5,&quot;width&quot;:876.9}"/>
</p:tagLst>
</file>

<file path=ppt/tags/tag17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18.xml><?xml version="1.0" encoding="utf-8"?>
<p:tagLst xmlns:p="http://schemas.openxmlformats.org/presentationml/2006/main">
  <p:tag name="KSO_WM_DIAGRAM_VIRTUALLY_FRAME" val="{&quot;height&quot;:363.65,&quot;left&quot;:154,&quot;top&quot;:159.35,&quot;width&quot;:640.9}"/>
</p:tagLst>
</file>

<file path=ppt/tags/tag19.xml><?xml version="1.0" encoding="utf-8"?>
<p:tagLst xmlns:p="http://schemas.openxmlformats.org/presentationml/2006/main">
  <p:tag name="TABLE_ENDDRAG_ORIGIN_RECT" val="911*457"/>
  <p:tag name="TABLE_ENDDRAG_RECT" val="22*48*911*457"/>
  <p:tag name="KSO_WM_BEAUTIFY_FLAG" val=""/>
</p:tagLst>
</file>

<file path=ppt/tags/tag20.xml><?xml version="1.0" encoding="utf-8"?>
<p:tagLst xmlns:p="http://schemas.openxmlformats.org/presentationml/2006/main">
  <p:tag name="TABLE_ENDDRAG_ORIGIN_RECT" val="911*457"/>
  <p:tag name="TABLE_ENDDRAG_RECT" val="22*48*911*457"/>
  <p:tag name="KSO_WM_BEAUTIFY_FLAG" val=""/>
</p:tagLst>
</file>

<file path=ppt/tags/tag21.xml><?xml version="1.0" encoding="utf-8"?>
<p:tagLst xmlns:p="http://schemas.openxmlformats.org/presentationml/2006/main">
  <p:tag name="TABLE_ENDDRAG_ORIGIN_RECT" val="911*457"/>
  <p:tag name="TABLE_ENDDRAG_RECT" val="22*48*911*457"/>
  <p:tag name="KSO_WM_BEAUTIFY_FLAG" val=""/>
</p:tagLst>
</file>

<file path=ppt/tags/tag22.xml><?xml version="1.0" encoding="utf-8"?>
<p:tagLst xmlns:p="http://schemas.openxmlformats.org/presentationml/2006/main">
  <p:tag name="TABLE_ENDDRAG_ORIGIN_RECT" val="830*453"/>
  <p:tag name="TABLE_ENDDRAG_RECT" val="88*59*830*453"/>
</p:tagLst>
</file>

<file path=ppt/tags/tag23.xml><?xml version="1.0" encoding="utf-8"?>
<p:tagLst xmlns:p="http://schemas.openxmlformats.org/presentationml/2006/main">
  <p:tag name="COMMONDATA" val="eyJoZGlkIjoiYmNmYzRhMTE2NTU3ZWQ1ZTgyOGFiN2UyYzhmNmMzYzcifQ=="/>
  <p:tag name="KSO_WPP_MARK_KEY" val="2e991201-a225-4753-b874-c9af3489f590"/>
  <p:tag name="commondata" val="eyJoZGlkIjoiOTU5OWZkNDNkN2NjMzQxMmI1N2M1ZDY3NjIwM2M3Mz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1477</Words>
  <Application>WPS 演示</Application>
  <PresentationFormat>宽屏</PresentationFormat>
  <Paragraphs>382</Paragraphs>
  <Slides>18</Slides>
  <Notes>4</Notes>
  <HiddenSlides>0</HiddenSlides>
  <MMClips>1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42" baseType="lpstr">
      <vt:lpstr>Arial</vt:lpstr>
      <vt:lpstr>宋体</vt:lpstr>
      <vt:lpstr>Wingdings</vt:lpstr>
      <vt:lpstr>思源宋体 CN</vt:lpstr>
      <vt:lpstr>微软雅黑</vt:lpstr>
      <vt:lpstr>思源黑体 CN Bold</vt:lpstr>
      <vt:lpstr>思源宋体 CN Heavy</vt:lpstr>
      <vt:lpstr>Calibri</vt:lpstr>
      <vt:lpstr>等线</vt:lpstr>
      <vt:lpstr>KSOFE22D339A</vt:lpstr>
      <vt:lpstr>Segoe Print</vt:lpstr>
      <vt:lpstr>KSOFCE3C27C1</vt:lpstr>
      <vt:lpstr>Arial Unicode MS</vt:lpstr>
      <vt:lpstr>KSOFCE3BB362</vt:lpstr>
      <vt:lpstr>KSOFE22CBF3B</vt:lpstr>
      <vt:lpstr>黑体</vt:lpstr>
      <vt:lpstr>思源宋体 CN</vt:lpstr>
      <vt:lpstr>思源宋体 CN Heavy</vt:lpstr>
      <vt:lpstr>思源黑体 CN Bold</vt:lpstr>
      <vt:lpstr>锦绣宋体</vt:lpstr>
      <vt:lpstr>方正大黑体_GBK</vt:lpstr>
      <vt:lpstr>兰米宋体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A2125</dc:creator>
  <cp:lastModifiedBy>LL</cp:lastModifiedBy>
  <cp:revision>1991</cp:revision>
  <dcterms:created xsi:type="dcterms:W3CDTF">2026-06-06T11:44:00Z</dcterms:created>
  <dcterms:modified xsi:type="dcterms:W3CDTF">2026-07-11T14:41:55Z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FDC8C11868604CE3A4EFBF047E93C54A_13</vt:lpwstr>
  </property>
</Properties>
</file>